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739" r:id="rId4"/>
  </p:sldMasterIdLst>
  <p:notesMasterIdLst>
    <p:notesMasterId r:id="rId47"/>
  </p:notesMasterIdLst>
  <p:handoutMasterIdLst>
    <p:handoutMasterId r:id="rId48"/>
  </p:handoutMasterIdLst>
  <p:sldIdLst>
    <p:sldId id="256" r:id="rId5"/>
    <p:sldId id="297" r:id="rId6"/>
    <p:sldId id="300" r:id="rId7"/>
    <p:sldId id="336" r:id="rId8"/>
    <p:sldId id="337" r:id="rId9"/>
    <p:sldId id="334" r:id="rId10"/>
    <p:sldId id="343" r:id="rId11"/>
    <p:sldId id="335" r:id="rId12"/>
    <p:sldId id="344" r:id="rId13"/>
    <p:sldId id="322" r:id="rId14"/>
    <p:sldId id="340" r:id="rId15"/>
    <p:sldId id="306" r:id="rId16"/>
    <p:sldId id="339" r:id="rId17"/>
    <p:sldId id="324" r:id="rId18"/>
    <p:sldId id="341" r:id="rId19"/>
    <p:sldId id="321" r:id="rId20"/>
    <p:sldId id="323" r:id="rId21"/>
    <p:sldId id="342" r:id="rId22"/>
    <p:sldId id="327" r:id="rId23"/>
    <p:sldId id="328" r:id="rId24"/>
    <p:sldId id="347" r:id="rId25"/>
    <p:sldId id="325" r:id="rId26"/>
    <p:sldId id="326" r:id="rId27"/>
    <p:sldId id="346" r:id="rId28"/>
    <p:sldId id="308" r:id="rId29"/>
    <p:sldId id="320" r:id="rId30"/>
    <p:sldId id="310" r:id="rId31"/>
    <p:sldId id="301" r:id="rId32"/>
    <p:sldId id="271" r:id="rId33"/>
    <p:sldId id="289" r:id="rId34"/>
    <p:sldId id="330" r:id="rId35"/>
    <p:sldId id="331" r:id="rId36"/>
    <p:sldId id="329" r:id="rId37"/>
    <p:sldId id="332" r:id="rId38"/>
    <p:sldId id="275" r:id="rId39"/>
    <p:sldId id="281" r:id="rId40"/>
    <p:sldId id="295" r:id="rId41"/>
    <p:sldId id="345" r:id="rId42"/>
    <p:sldId id="317" r:id="rId43"/>
    <p:sldId id="287" r:id="rId44"/>
    <p:sldId id="286" r:id="rId45"/>
    <p:sldId id="338" r:id="rId4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688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ECB4EE-8653-CC9B-C0EF-C875710D08F4}" name="Daniel Maya" initials="DH" userId="Daniel May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9495FE-BF40-427B-9452-0699F0598A15}" v="682" dt="2026-01-29T10:05:04.516"/>
    <p1510:client id="{5AD8BDFC-92ED-4C8B-8DBE-40AE4B0AB25D}" v="1213" dt="2026-01-28T19:47:50.498"/>
    <p1510:client id="{8E8E238E-EB1E-4DCE-BCD9-3E369EC2EF59}" v="466" dt="2026-01-28T22:29:41.653"/>
    <p1510:client id="{C4BD02B5-834E-44F7-BEA2-5315BD64EB86}" v="450" dt="2026-01-27T22:33:29.040"/>
    <p1510:client id="{C697D685-6F13-4162-988D-719A811CB300}" v="73" dt="2026-01-28T17:50:48.855"/>
    <p1510:client id="{C9CB4805-3D8E-4DD4-97B1-E91BD088D703}" v="57" dt="2026-01-28T22:45:58.5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9"/>
  </p:normalViewPr>
  <p:slideViewPr>
    <p:cSldViewPr snapToGrid="0">
      <p:cViewPr varScale="1">
        <p:scale>
          <a:sx n="95" d="100"/>
          <a:sy n="95" d="100"/>
        </p:scale>
        <p:origin x="200" y="584"/>
      </p:cViewPr>
      <p:guideLst>
        <p:guide orient="horz"/>
        <p:guide pos="2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6D5BAE6-F336-E986-B4AE-45A9E86AF7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49C22-5167-321F-4611-D82D3572B99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FC2A692C-324E-1047-AC19-46560D7B8080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C770CE-E284-6F52-3D19-2FCE7A5845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B612CF-B4E9-5241-B281-66A924D0F3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E51692BB-2F59-024F-AAA9-CA9FD9E55B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BF66D6-01A2-FA0D-0909-B9EAF1515C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551F7-325D-30C6-19E2-0545E42380F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73C36B6-FC15-F945-A090-301924349BC3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B238A43-A13E-3B22-17FF-FE3B45957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5988661-42C3-6DA4-1F76-38D647FAE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6FF73-CE7C-B031-96E4-EF038B3B59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ADFE7-E3F6-8F37-6E49-08287B697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1DB68588-F5BB-7342-9C37-4EC5F4BDE04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16ECE74C-BE59-C29F-E875-8FCE88CB413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95A0C297-F359-9EC4-7CED-2E455C77AA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5A8DB7B1-7473-9343-9C65-5AF14A54A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51CD57-8837-D64D-89FE-ED445F3CE842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Danny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738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Britt</a:t>
            </a:r>
          </a:p>
          <a:p>
            <a:r>
              <a:rPr lang="en-US"/>
              <a:t>Open source principles: </a:t>
            </a:r>
            <a:r>
              <a:rPr lang="en-US" b="1" u="sng"/>
              <a:t>transparency, collaboration</a:t>
            </a:r>
            <a:r>
              <a:rPr lang="en-US"/>
              <a:t>, and </a:t>
            </a:r>
            <a:r>
              <a:rPr lang="en-US" b="1" u="sng"/>
              <a:t>freedom. </a:t>
            </a:r>
            <a:r>
              <a:rPr lang="en-US"/>
              <a:t>Source code is </a:t>
            </a:r>
            <a:r>
              <a:rPr lang="en-US" b="1" u="sng"/>
              <a:t>publicly accessible, </a:t>
            </a:r>
            <a:r>
              <a:rPr lang="en-US"/>
              <a:t>modifiable, redistributable.</a:t>
            </a:r>
            <a:endParaRPr lang="en-US">
              <a:ea typeface="Calibri"/>
              <a:cs typeface="Calibri"/>
            </a:endParaRPr>
          </a:p>
          <a:p>
            <a:pPr marL="342900" indent="-342900">
              <a:spcBef>
                <a:spcPct val="20000"/>
              </a:spcBef>
            </a:pPr>
            <a:r>
              <a:rPr lang="en-US"/>
              <a:t>fosters innovation through </a:t>
            </a:r>
            <a:r>
              <a:rPr lang="en-US" b="1" u="sng"/>
              <a:t>community participation and iterative development. Iterative development means that files or code shared are constantly being worked 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736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Danny</a:t>
            </a:r>
          </a:p>
          <a:p>
            <a:r>
              <a:rPr lang="en-US"/>
              <a:t>CDE) is a </a:t>
            </a:r>
            <a:r>
              <a:rPr lang="en-US" b="1" u="sng"/>
              <a:t>standardized precisely defined question</a:t>
            </a:r>
            <a:r>
              <a:rPr lang="en-US"/>
              <a:t> paired with s</a:t>
            </a:r>
            <a:r>
              <a:rPr lang="en-US" b="1" u="sng"/>
              <a:t>pecific allowable responses</a:t>
            </a:r>
          </a:p>
          <a:p>
            <a:r>
              <a:rPr lang="en-US" b="1" u="sng">
                <a:ea typeface="Calibri"/>
                <a:cs typeface="Calibri"/>
              </a:rPr>
              <a:t>Why? </a:t>
            </a:r>
            <a:r>
              <a:rPr lang="en-US" b="1" u="sng"/>
              <a:t>So data can be collected the same way across multiple research studies or sites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66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Britt</a:t>
            </a:r>
          </a:p>
          <a:p>
            <a:r>
              <a:rPr lang="en-US">
                <a:ea typeface="Calibri"/>
                <a:cs typeface="Calibri"/>
              </a:rPr>
              <a:t>Ask the audience. </a:t>
            </a:r>
            <a:r>
              <a:rPr lang="en-US" b="1">
                <a:ea typeface="Calibri"/>
                <a:cs typeface="Calibri"/>
              </a:rPr>
              <a:t>Age of first injection</a:t>
            </a:r>
            <a:r>
              <a:rPr lang="en-US">
                <a:ea typeface="Calibri"/>
                <a:cs typeface="Calibri"/>
              </a:rPr>
              <a:t> and </a:t>
            </a:r>
            <a:r>
              <a:rPr lang="en-US" b="1">
                <a:ea typeface="Calibri"/>
                <a:cs typeface="Calibri"/>
              </a:rPr>
              <a:t>Age at enrollment (first access)</a:t>
            </a:r>
            <a:r>
              <a:rPr lang="en-US">
                <a:ea typeface="Calibri"/>
                <a:cs typeface="Calibri"/>
              </a:rPr>
              <a:t>. Checking the age gap (over time)</a:t>
            </a:r>
          </a:p>
          <a:p>
            <a:r>
              <a:rPr lang="en-US" b="1">
                <a:ea typeface="Calibri"/>
                <a:cs typeface="Calibri"/>
              </a:rPr>
              <a:t>These data can be collected in different ways based on site needs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579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F78DE-C86F-B521-0612-4EE377522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783825-49ED-B682-C10C-9942A7B17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30E00-E198-CE76-E8D1-A26FD8159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Britt</a:t>
            </a:r>
          </a:p>
          <a:p>
            <a:r>
              <a:rPr lang="en-US">
                <a:ea typeface="Calibri"/>
                <a:cs typeface="Calibri"/>
              </a:rPr>
              <a:t>Ask the audience. </a:t>
            </a:r>
            <a:r>
              <a:rPr lang="en-US" b="1">
                <a:ea typeface="Calibri"/>
                <a:cs typeface="Calibri"/>
              </a:rPr>
              <a:t>Age of first injection</a:t>
            </a:r>
            <a:r>
              <a:rPr lang="en-US">
                <a:ea typeface="Calibri"/>
                <a:cs typeface="Calibri"/>
              </a:rPr>
              <a:t> and </a:t>
            </a:r>
            <a:r>
              <a:rPr lang="en-US" b="1">
                <a:ea typeface="Calibri"/>
                <a:cs typeface="Calibri"/>
              </a:rPr>
              <a:t>Age at enrollment (first access)</a:t>
            </a:r>
            <a:r>
              <a:rPr lang="en-US">
                <a:ea typeface="Calibri"/>
                <a:cs typeface="Calibri"/>
              </a:rPr>
              <a:t>. Checking the age gap (over time)</a:t>
            </a:r>
          </a:p>
          <a:p>
            <a:r>
              <a:rPr lang="en-US" b="1">
                <a:ea typeface="Calibri"/>
                <a:cs typeface="Calibri"/>
              </a:rPr>
              <a:t>These data can be collected in different ways based on site needs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3B55AD-06A5-2ACF-1E33-7891D5D46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610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Danny</a:t>
            </a:r>
          </a:p>
          <a:p>
            <a:r>
              <a:rPr lang="en-US" b="1">
                <a:ea typeface="Calibri"/>
                <a:cs typeface="Calibri"/>
              </a:rPr>
              <a:t>Ask the audience. Date of drug checking. Adulterants detected. Location.</a:t>
            </a:r>
          </a:p>
          <a:p>
            <a:r>
              <a:rPr lang="en-US" b="1">
                <a:ea typeface="Calibri"/>
                <a:cs typeface="Calibri"/>
              </a:rPr>
              <a:t>Highlight: these data can also be collected in different ways that can make life easier or harder depending on the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068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CE634-EF5D-5CBD-E574-DC9B99421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4516C-0FF6-E1EB-3B58-D3F84C2C0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C10E0-0524-AA2D-E9A2-DDBE39E00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Danny</a:t>
            </a:r>
          </a:p>
          <a:p>
            <a:r>
              <a:rPr lang="en-US" b="1">
                <a:ea typeface="Calibri"/>
                <a:cs typeface="Calibri"/>
              </a:rPr>
              <a:t>Ask the audience. Date of drug checking. Adulterants detected. Location.</a:t>
            </a:r>
          </a:p>
          <a:p>
            <a:r>
              <a:rPr lang="en-US" b="1">
                <a:ea typeface="Calibri"/>
                <a:cs typeface="Calibri"/>
              </a:rPr>
              <a:t>Highlight: these data can also be collected in different ways that can make life easier or harder depending on the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51AA5-EE3C-B7F8-97AB-72397B5A7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11611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What are </a:t>
            </a:r>
            <a:r>
              <a:rPr lang="en-US" b="1">
                <a:ea typeface="Calibri"/>
                <a:cs typeface="Calibri"/>
              </a:rPr>
              <a:t>some </a:t>
            </a:r>
            <a:r>
              <a:rPr lang="en-US">
                <a:ea typeface="Calibri"/>
                <a:cs typeface="Calibri"/>
              </a:rPr>
              <a:t>different options for data collection?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0045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Britt</a:t>
            </a:r>
          </a:p>
          <a:p>
            <a:r>
              <a:rPr lang="en-US" dirty="0">
                <a:ea typeface="Calibri"/>
                <a:cs typeface="Calibri"/>
              </a:rPr>
              <a:t>This is where Common Data Elements can help standardize the variable/column/item names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B68588-F5BB-7342-9C37-4EC5F4BDE044}" type="slidenum">
              <a:rPr lang="en-US" altLang="en-US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4583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FA99D-AE44-5E03-0791-529B7CDE2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>
            <a:extLst>
              <a:ext uri="{FF2B5EF4-FFF2-40B4-BE49-F238E27FC236}">
                <a16:creationId xmlns:a16="http://schemas.microsoft.com/office/drawing/2014/main" id="{ED42A21D-7988-1A86-34D2-523EF8D710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0" name="Notes Placeholder 2">
            <a:extLst>
              <a:ext uri="{FF2B5EF4-FFF2-40B4-BE49-F238E27FC236}">
                <a16:creationId xmlns:a16="http://schemas.microsoft.com/office/drawing/2014/main" id="{E5F5E09B-2D57-F7B1-C5E9-613409E88E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1" name="Slide Number Placeholder 3">
            <a:extLst>
              <a:ext uri="{FF2B5EF4-FFF2-40B4-BE49-F238E27FC236}">
                <a16:creationId xmlns:a16="http://schemas.microsoft.com/office/drawing/2014/main" id="{9FEC9C81-851D-BDAF-FF5B-36ABC58FD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951CD57-8837-D64D-89FE-ED445F3CE842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88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CE207-4F6C-C305-B3D1-71A5AD437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849B91-7562-E74F-9E3B-BC4AAE08F4AA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61E60-442B-F9FE-D7A5-6472DE668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08C78-0667-9427-4474-EE0B6B53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62A42-FFD7-DE41-AB7D-6B78A5CA22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132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EAEEE-5360-D7D0-4D2B-DD0EB281C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884DD-3F78-F345-943D-4CD1162BEA12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C21D-B331-C3BA-16F7-FA601AB3E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7A66E-17A7-1FC6-0E3E-9A5F35752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509C7-87E5-5B49-AB09-EA536207DC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6619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2AD6A-1016-2D29-4F50-B6A1FA1A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876E32-8EE9-A347-8A74-455EAE0D1EE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15FD-B566-39C0-A3F6-50B5E32C4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C304E-91E9-10F7-D307-34A6748F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A511AC-4227-CB44-9BE3-C14DA1B8DB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06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96C0A9-5A4C-A8A5-4207-B554147DC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AB95B8-DAA5-A346-866E-D1B2402B60AC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4A3C79E-11B5-2F6C-5ABB-AF6AC762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080785-1770-6C9C-F88C-EBD23A2A7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926EEA-F678-9448-A419-E2E15DBC721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836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FA256B1-8132-7970-6F00-06D11157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2D67A-FB80-B946-98A9-24CF4949E7B4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6AE9209-D8C9-2D4B-851F-CB5BBF570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6A33C3E-99D3-B6FC-0033-40F8D12E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B17459-24EB-6A43-AEC4-FD9CA46653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02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077AD09-4F50-55D9-78BC-5F8C3FF04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0C49C6-B45D-2841-A6B2-33FAC396B749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B8AF6B-146F-1A40-0AA8-47906E977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45F1BD8-C9FB-E9E3-7A14-7309E520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401B7-35AF-3B4A-95BB-CDC4FB0461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51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FF28A1F-9106-039A-F58A-6C7CF17E7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0CCE7-FAE0-BC4B-A882-E7F0620FF484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661334-E959-7E23-156A-ACED6316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C4108D7-10B2-43C4-F64B-800F3B264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F0FC3-2C6B-0E4C-8ABD-F405A4A0EC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3631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B7DDC85-9C8C-30D3-279F-561492901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A830E9-EBD7-F344-B574-DEDBB99EC07E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04BAACD-0F46-A385-040B-D421B7497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F0A36A8-D16F-3E4F-612E-054515032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7396B9-126C-034E-9E5B-65456FFC12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634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84799E-B95E-FF2C-06CB-198CE7F2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7BB04B-49ED-3E4A-B3A3-778C037FF1B9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CFE633D-5675-6D98-689B-C6A3E4F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2A4EB7-4144-7B30-4D43-A3AB50057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CDF296-B112-BA47-85D9-185CA18F1E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02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EF489-4C83-C87D-FD80-6A947B27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6041FB-1335-2341-BCF7-36F07A4A4DC9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A19D7-B216-1C4C-F6E9-A256D7345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46B47-02BF-441B-E6F9-A8A3ABE0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57E4D5-F8C1-2046-B694-3227B481C1C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49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6F52B-D28F-8A8F-D2D0-759180E2C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4B288-27B3-E744-808D-33ACCEBCADE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F335-C945-2B63-9763-14921050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CC8F-E127-C41B-7A59-4ED14F22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A033DE-2082-934B-B506-6E25B5B3F9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668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08382-C115-5CDF-FF67-C6E96F4632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4B8EE102-DD2B-9343-86D4-02C3BF4A4867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20771-E815-BEFA-033C-AD4CAA5B3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9DBF1-0104-DAAB-27FA-09EE10A4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AE7B8EE-B85A-EB40-9E65-EB23071532B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037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37635-DEC3-F961-58C7-D1EAB92E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BEEE482D-EED7-FC4E-840C-7548D8AB45DA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B6A2E-33B4-D86F-15BB-A9BD6620C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EA437-8C24-D0EF-A6A1-64708D492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FB00BD3-EC0E-7D4F-B128-65A3BC9C94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0816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0F038-F827-10DE-BCCD-6D2F4A26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57AEDC98-6379-EE42-932F-A7C9D1F039B1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DF45A-618F-CF1D-A543-BD4BD832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FA3EA-6198-B71D-69BB-7E27AA7C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ECCC5F35-31C1-E042-919C-59D99FA385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298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2AA64-67D6-99C3-67A8-5FEDD71B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724F7BF6-118D-6344-B67B-C05928C6C578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F1439-33D7-C2B6-22B8-BCF10D8B7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C71EA-4E64-43BC-4FEC-4138417AB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C820AC3-843D-DE45-99E5-DF0E6118DE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24710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10854-FE15-97FF-8A7E-D53C6195E5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B4E2B409-87A4-2F4D-A6AC-558F388B0B09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088227-87EF-2960-A7B4-410C6207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A891DF-B3A7-BF06-9AAC-77EA43614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8570F88D-3CF0-E447-B76C-3322CDC2BE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196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6BF4-485A-91A7-24C8-7A0A8EF1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3D2A04E0-B5A1-264D-B279-9881909A5A16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A14BE-92F9-6A39-0D4B-D147D663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E7466C-C080-171A-C496-118E5410E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B09F4E7-6EB0-8B43-B19F-48BB60CC8A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285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21E84D-9F2D-6B53-F49C-68E39E97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AC90D72D-5CBD-D54F-BFEF-6EB4AF041B2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A06B82-27B0-DE47-5BCB-FC8A4C9C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41040-D8B7-0A7C-3142-19A32FCC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6E7F0296-6045-A44B-8D00-C0E34D1465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77083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8375-3B65-9518-027D-7C0CB47D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42E8410D-129A-FD47-BC15-5304C7409EE6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CAAD3B-B8D2-D4B3-145D-4FD89F4E7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DA4D1-3726-6F37-A6A2-A8AC4C3D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DE9DAD0-C4D5-4540-A501-8349C6E2A6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13386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762C7-9EFC-13CA-0B3C-1851E1EC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2858BBF7-FEDC-0244-BA59-96A5DFB9ACFC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619C5-9010-924C-24A6-B7C64E9D5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A3C67-E49D-5B07-7A65-038FEB87B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3FA253B-13AA-A041-8277-28B87CFC34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0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B8D84-5053-19A8-A3B1-9FD847D5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6DC01BB2-8791-D349-AB82-B4E6A0B3BECC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E5486-D5DE-B623-D83D-1EB4A00C3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068A-BA6D-4661-9D39-40A658D0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3778F0E-38E2-0142-B90E-12DDD5E7396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2254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F0165-B273-5197-E78F-5AD24E0D25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02310C9-D67D-BF4D-9A96-11EF1BD1339B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27B78-0CCE-23D9-EE87-2472F0260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3C9E3-2EB3-5733-6877-79D34D5E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EFE52185-C603-F844-907A-0AF6D6312C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9935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0BA8A-34E9-1157-F6EE-E2AF12A4AA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1C025D37-87DE-7244-8FA9-811DAAC2508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F6294-F9E7-85FD-65CD-8BCC924B0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4E9AB-DDF7-A98A-6EC9-F5A31E7A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B54D506-2976-4F4E-B624-6219D294E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15736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66926-E78E-098C-7A36-E249F0FC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26E964EE-C82D-2A4F-B99F-08493B468AE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0ED6F-CEE7-F13C-84FB-37D157E4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9C2E5-FD1A-3448-E22C-61F6FB573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7F5C9DFC-A093-5440-B54D-18D1B550DC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16870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79B66-794C-0DB6-2445-F5C674DFB5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BA2E865-96E9-F647-BAEE-B5D871349A92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3EB6-AF87-C7CE-B0C8-982DD89B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543C3-2108-0D91-8718-0513B3CD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D8CE141-74E6-F147-9218-668F50ADC3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15372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76EDC-77E2-EE96-25AC-D59F5FF14E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07B9EB42-C818-524B-9C64-77BB100ABAF6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B47D7-8137-2D98-EA3C-8F5FEF31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A79A37-25E0-2753-C67A-D4969AB3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D268A18C-13D7-7144-8C6D-580497FE01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2481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C4FE0-A30B-0915-A8EA-BFBA37C2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5215E1F-4B8D-234E-9F6D-4AF7E89B8E55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C563D-4C0A-1959-6E14-5020C47F5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C0D4B-BC00-78C9-F5FA-66523DEA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034CBE7-0FAF-F54B-AC97-7E8130BC49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6530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65F40-AF8E-2828-C8F6-97AF579C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9046470D-0CB0-754B-8D04-9C85BBFB610A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0C4AE-5143-F7CB-9C32-9F3146C7C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78C8E-D874-3C52-90E4-35B6C8D0C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FCC060D8-E228-5D4C-AF1C-66320FC04B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1702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C9B789-2DB9-1BB6-1368-0196FE631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A6F70ACF-9998-DE46-9DB8-B2BCDD6E8B94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72BF38-EFEB-23AB-F362-9CD6D61E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5CB64-12E9-E920-8804-55FB3FF6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A21E375-DFA1-A44B-AEF8-B4DF356A1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522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DAF70-C020-4D56-FB14-7B5AAF5D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84AB921C-8E21-6A44-B04F-4FBE8D2DB1C1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74A94-CB8C-D15D-CD4F-11B0B7E32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60AF05-F769-8652-2D50-3A119B06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CB4232F-A902-F842-A5E0-BBCCA1541F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28495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0C8BE-4E16-0E81-1433-D19A793A35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D0E4C5C9-9045-1449-B479-7A620E89D2CC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5F516-4738-945C-5AE7-F602DA19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9E868-5547-E089-C16F-83BE9CD39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654BE839-21F1-F24C-ABEF-62115A1E51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9651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47A5B-9CEB-39EE-639C-24B99EFD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2D6839F0-6E08-944E-987C-44A9D43B3E5F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5D772-AF2D-0D69-57AE-7C82BAC2B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571AE-4B28-C480-95D4-F488CC29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10CCA1B-F72F-544C-8FC5-BCC0648E7F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290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EC99C-29E5-A6AC-8B7D-760D53B737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32AF29D1-4DB6-5C4B-ACEC-18F8E4ECC245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74CD9-68B1-931E-AD1C-82D6BD32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32171-647B-853E-3B64-D4102183A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034B3DA0-F8DE-4D41-BB7C-4E2AEE2E942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72332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877CE-20BE-7B23-D7CA-886623F202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E6F6207-AE60-4B41-9CF5-6D40B58DA7DE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2DC3-78BA-E4CC-C010-3427991D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80DB5-B111-6ED7-3AE8-AFE08135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59FB9BCB-684E-644F-AB1C-A7744A20D6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38297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F0C7-1DC7-ACBB-87CC-7D5A0A80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C580368C-CFB6-B44F-9425-B2EA0BDDDA10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378EB-96E2-44A5-503F-1D582031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75236-69C1-B0E9-CEBE-9567AE81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2477457-2F20-4F48-B066-52DD84B8E4D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2840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195CF-F3E0-0103-D5E1-382B23AD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95A1F60A-EEFA-B648-90DD-3A1F8D166C64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8DA16-4AC0-3600-924B-2434540D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CBAA7-9702-6128-569F-19F67A676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2762CB6-4D35-3E45-B144-7599E67A12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595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E469A-6F03-F63C-FE0F-51752B49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D7490F7-0864-3647-9966-0624A03BC1E1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DE55C-556D-847B-7C07-4E3AD0CF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3AB78-7374-2129-40B9-F60C61BF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DAC70B2D-5DA1-ED4B-B78D-A99D692E23D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147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977EE-2F5B-D107-CD4F-80CC4E847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DA9DEB64-F13E-6445-86E1-4B14FF0E781B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AA944-08E2-780E-4177-3F7546D35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D9FD2-F7D4-03A3-F2ED-AC22CBF3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A382D517-4092-6E40-BC64-65B86EA6D18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940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931580-5959-A52B-46C5-CFFF465C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2E3EDBE4-7098-A64C-A0B4-387B927BE4D1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DD795-5581-55C0-910D-0120C280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C51705-9DD0-563D-97FB-A5E07F4D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85173CA-60AE-9249-9A26-523FDBC2C2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62881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DFF397-74C4-C298-6347-67EDC7AE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E577DEEB-AADE-8C48-BA32-B0923287D2BA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46653-45FA-1C4C-76B9-9DA3ED8E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8CB8A-64B6-C260-CD59-2EAAB1B9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6A07D02-BFE1-7C43-90C4-FF4A1B18E3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3433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70F5EB-9550-E448-D7D8-72EE3614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8DA35C60-7881-6348-8272-998F537B9F4A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EAA86-9D08-1346-20AD-90C6A2DB8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8B008-5960-4E82-DE21-8BD99E0AF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B2F46B95-4FFB-0A41-B7A1-07E2AA730B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48245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B4C5D-C1EC-7060-90B0-A65DF5BEF6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45B14048-CA9F-F14C-9158-9882BA676984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ED12A-0FAC-D38F-9D76-8EC4C2A1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C0201-5C45-CEDA-4289-ADF120083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03A2637-93CA-F749-8BCC-6F1FA1C715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09411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A4B20-8B84-8F80-1F97-1DCD692C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4ABCC01A-C265-314B-9BEE-337EC5525A56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F1F3B-0826-594E-6BFF-6C3F22D9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C20D0-257D-327D-9597-6800CD55F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271B82BE-AD20-1649-8C0A-F7D6EA2E5A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4604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12329-CA1A-1632-8B4D-2240A1DB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fld id="{C925A211-16EF-BB48-BBE2-A2866750BC23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7BFDC-19DC-5C05-CAB4-98826998F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5E7DE-F369-9284-ECF2-2DF5E5365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fld id="{46E2F8BC-B607-8B47-9D08-D49BF7A564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235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FAF64-FDFF-B140-EE60-B9D30CAA6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7312449-91F4-8146-B06E-1DC5CC9979B0}" type="datetimeFigureOut">
              <a:rPr lang="en-US"/>
              <a:pPr>
                <a:defRPr/>
              </a:pPr>
              <a:t>1/29/26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F6C77-37E2-A913-8FFC-E59544424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B7CC3-EBEB-D07E-BAF4-A9ADC1C2D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BCAB1DC8-8FF6-4847-BC05-A288EF676840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1029" name="Picture 6">
            <a:extLst>
              <a:ext uri="{FF2B5EF4-FFF2-40B4-BE49-F238E27FC236}">
                <a16:creationId xmlns:a16="http://schemas.microsoft.com/office/drawing/2014/main" id="{ACDCAF46-2793-AFAB-018F-597A637749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12192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5" r:id="rId1"/>
    <p:sldLayoutId id="2147484016" r:id="rId2"/>
    <p:sldLayoutId id="2147484017" r:id="rId3"/>
    <p:sldLayoutId id="2147484018" r:id="rId4"/>
    <p:sldLayoutId id="2147484019" r:id="rId5"/>
    <p:sldLayoutId id="2147484020" r:id="rId6"/>
    <p:sldLayoutId id="2147484021" r:id="rId7"/>
    <p:sldLayoutId id="2147484022" r:id="rId8"/>
    <p:sldLayoutId id="2147484023" r:id="rId9"/>
    <p:sldLayoutId id="2147484024" r:id="rId10"/>
    <p:sldLayoutId id="214748402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40C51AC6-0967-B3C5-E664-D4FFBA13857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92000" cy="685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0568215-22D0-27AB-BBE4-CAE1F274BE12}"/>
              </a:ext>
            </a:extLst>
          </p:cNvPr>
          <p:cNvCxnSpPr/>
          <p:nvPr userDrawn="1"/>
        </p:nvCxnSpPr>
        <p:spPr>
          <a:xfrm>
            <a:off x="457200" y="457200"/>
            <a:ext cx="11277600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03" name="Picture 13">
            <a:extLst>
              <a:ext uri="{FF2B5EF4-FFF2-40B4-BE49-F238E27FC236}">
                <a16:creationId xmlns:a16="http://schemas.microsoft.com/office/drawing/2014/main" id="{68E1BEE4-DC9A-2EEC-B793-844F52B2D36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38800"/>
            <a:ext cx="12192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048" r:id="rId1"/>
    <p:sldLayoutId id="2147484049" r:id="rId2"/>
    <p:sldLayoutId id="2147484050" r:id="rId3"/>
    <p:sldLayoutId id="2147484051" r:id="rId4"/>
    <p:sldLayoutId id="2147484052" r:id="rId5"/>
    <p:sldLayoutId id="2147484053" r:id="rId6"/>
    <p:sldLayoutId id="2147484054" r:id="rId7"/>
    <p:sldLayoutId id="2147484055" r:id="rId8"/>
    <p:sldLayoutId id="2147484056" r:id="rId9"/>
    <p:sldLayoutId id="2147484057" r:id="rId10"/>
    <p:sldLayoutId id="21474840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3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redcap.link/idea-ta" TargetMode="Externa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org/osd" TargetMode="External"/><Relationship Id="rId2" Type="http://schemas.openxmlformats.org/officeDocument/2006/relationships/hyperlink" Target="https://www.nlm.nih.gov/oet/ed/cde/tutorial/index.html" TargetMode="Externa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3DEBCEAB-E5A9-D9FC-6439-522A21446B04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095494" y="2057400"/>
            <a:ext cx="8410705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600">
                <a:solidFill>
                  <a:schemeClr val="bg1"/>
                </a:solidFill>
                <a:latin typeface="Helvetica" pitchFamily="2" charset="0"/>
              </a:rPr>
              <a:t>Open-Source Solutions for Data Capture at Syringe Services Programs</a:t>
            </a:r>
          </a:p>
        </p:txBody>
      </p:sp>
      <p:sp>
        <p:nvSpPr>
          <p:cNvPr id="37891" name="Subtitle 2">
            <a:extLst>
              <a:ext uri="{FF2B5EF4-FFF2-40B4-BE49-F238E27FC236}">
                <a16:creationId xmlns:a16="http://schemas.microsoft.com/office/drawing/2014/main" id="{398A659D-1389-54C7-5C02-4D7ABC6E245D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095495" y="3657600"/>
            <a:ext cx="5134105" cy="5334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buFont typeface="Arial" charset="0"/>
              <a:buNone/>
              <a:defRPr/>
            </a:pPr>
            <a:r>
              <a:rPr lang="en-US" sz="3000">
                <a:solidFill>
                  <a:schemeClr val="bg1">
                    <a:lumMod val="65000"/>
                  </a:schemeClr>
                </a:solidFill>
                <a:latin typeface="Helvetica" pitchFamily="34" charset="0"/>
              </a:rPr>
              <a:t>Lessons from Florida</a:t>
            </a:r>
          </a:p>
        </p:txBody>
      </p:sp>
      <p:sp>
        <p:nvSpPr>
          <p:cNvPr id="52227" name="Subtitle 2">
            <a:extLst>
              <a:ext uri="{FF2B5EF4-FFF2-40B4-BE49-F238E27FC236}">
                <a16:creationId xmlns:a16="http://schemas.microsoft.com/office/drawing/2014/main" id="{A3C7A7CA-0AF3-5770-1736-78C6DF01958D}"/>
              </a:ext>
            </a:extLst>
          </p:cNvPr>
          <p:cNvSpPr txBox="1">
            <a:spLocks/>
          </p:cNvSpPr>
          <p:nvPr/>
        </p:nvSpPr>
        <p:spPr bwMode="auto">
          <a:xfrm>
            <a:off x="3132281" y="6096000"/>
            <a:ext cx="860777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chemeClr val="bg1"/>
                </a:solidFill>
                <a:latin typeface="Helvetica"/>
                <a:cs typeface="Helvetica"/>
              </a:rPr>
              <a:t>Britt DeVries &amp; Daniel Maya | Thursday, January 29, 2025 | 4</a:t>
            </a:r>
            <a:r>
              <a:rPr lang="en-US" altLang="en-US" baseline="30000">
                <a:solidFill>
                  <a:schemeClr val="bg1"/>
                </a:solidFill>
                <a:latin typeface="Helvetica"/>
                <a:cs typeface="Helvetica"/>
              </a:rPr>
              <a:t>th</a:t>
            </a:r>
            <a:r>
              <a:rPr lang="en-US" altLang="en-US">
                <a:solidFill>
                  <a:schemeClr val="bg1"/>
                </a:solidFill>
                <a:latin typeface="Helvetica"/>
                <a:cs typeface="Helvetica"/>
              </a:rPr>
              <a:t> Annual FLHRC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1433-812A-225B-1B42-70B41C6E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9572-FAFF-ECF6-F36D-9310C52AA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040459"/>
            <a:ext cx="10972800" cy="777081"/>
          </a:xfrm>
        </p:spPr>
        <p:txBody>
          <a:bodyPr lIns="91440" tIns="45720" rIns="91440" bIns="45720" anchor="t"/>
          <a:lstStyle/>
          <a:p>
            <a:r>
              <a:rPr lang="en-US"/>
              <a:t>Quick Introductions</a:t>
            </a:r>
          </a:p>
        </p:txBody>
      </p:sp>
    </p:spTree>
    <p:extLst>
      <p:ext uri="{BB962C8B-B14F-4D97-AF65-F5344CB8AC3E}">
        <p14:creationId xmlns:p14="http://schemas.microsoft.com/office/powerpoint/2010/main" val="79944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81D7-6F3C-8332-DC42-E632288CF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66923" y="456715"/>
            <a:ext cx="4191000" cy="765174"/>
          </a:xfrm>
        </p:spPr>
        <p:txBody>
          <a:bodyPr/>
          <a:lstStyle/>
          <a:p>
            <a:r>
              <a:rPr lang="en-US"/>
              <a:t>Today’s Roadmap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2FBA8-FC19-F31E-BE27-4DB868ABC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1524000"/>
            <a:ext cx="8534400" cy="5029200"/>
          </a:xfrm>
        </p:spPr>
        <p:txBody>
          <a:bodyPr lIns="91440" tIns="45720" rIns="91440" bIns="45720" anchor="t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Open-Source &amp; Common Data Elements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 sz="3200">
                <a:solidFill>
                  <a:srgbClr val="000000"/>
                </a:solidFill>
              </a:rPr>
              <a:t> </a:t>
            </a:r>
            <a:r>
              <a:rPr lang="en-US">
                <a:solidFill>
                  <a:srgbClr val="000000"/>
                </a:solidFill>
              </a:rPr>
              <a:t>Practical</a:t>
            </a:r>
            <a:r>
              <a:rPr lang="en-US" sz="3200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rgbClr val="000000"/>
                </a:solidFill>
              </a:rPr>
              <a:t>Examples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Data Collection Platforms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Pros &amp; Cons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Hands-On Workshop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Using a Platform of Choice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 Accessing GitHub Repository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 Questions &amp; Discussion</a:t>
            </a: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9418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CB29-873C-015F-84A4-2E23CF9D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514" y="379741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Open-Source Principles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319E9-CA2B-B005-E8D2-EFF26D2D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1711873"/>
            <a:ext cx="8384628" cy="4525963"/>
          </a:xfrm>
        </p:spPr>
        <p:txBody>
          <a:bodyPr lIns="91440" tIns="45720" rIns="91440" bIns="45720" anchor="t"/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Open-source principles 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center on </a:t>
            </a: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transparency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</a:t>
            </a:r>
          </a:p>
          <a:p>
            <a:pPr>
              <a:buNone/>
            </a:pP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collaboration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freedom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ensuring software's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source code is </a:t>
            </a: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publicly accessible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modifiable,</a:t>
            </a:r>
            <a:endParaRPr lang="en-US" dirty="0"/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and redistributable, fostering innovation through</a:t>
            </a:r>
          </a:p>
          <a:p>
            <a:pPr>
              <a:buNone/>
            </a:pPr>
            <a:r>
              <a:rPr lang="en-US" b="1" u="sng" dirty="0">
                <a:solidFill>
                  <a:srgbClr val="000000"/>
                </a:solidFill>
                <a:ea typeface="+mn-lt"/>
                <a:cs typeface="+mn-lt"/>
              </a:rPr>
              <a:t>community participation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, meritocracy, and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iterative development. 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6412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2D379-2545-575E-1C27-AF39C72D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1E91-E5AD-29C8-EEC3-B42EC344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514" y="379741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Common Data Elements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28812-8FC1-9CA5-D774-29C81B749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0" y="1521373"/>
            <a:ext cx="8384628" cy="4525963"/>
          </a:xfrm>
        </p:spPr>
        <p:txBody>
          <a:bodyPr lIns="91440" tIns="45720" rIns="91440" bIns="45720" anchor="t"/>
          <a:lstStyle/>
          <a:p>
            <a:pPr marL="0" indent="0">
              <a:spcBef>
                <a:spcPts val="20"/>
              </a:spcBef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 common data element (CDE) is a </a:t>
            </a:r>
            <a:r>
              <a:rPr lang="en-US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standardized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precisely defined question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that is paired with a set of </a:t>
            </a:r>
            <a:r>
              <a:rPr lang="en-US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specific allowable responses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  <a:p>
            <a:pPr marL="0" indent="0">
              <a:spcBef>
                <a:spcPts val="20"/>
              </a:spcBef>
              <a:buNone/>
            </a:pP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spcBef>
                <a:spcPts val="20"/>
              </a:spcBef>
              <a:buNone/>
            </a:pP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Common data elements are developed so that data can be collected in </a:t>
            </a:r>
            <a:r>
              <a:rPr lang="en-US" b="1" u="sng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same way across multiple research studies or sites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  <a:p>
            <a:pPr marL="0" indent="0">
              <a:buNone/>
            </a:pPr>
            <a:endParaRPr lang="en-US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020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38BD7-E484-EE01-BD10-20DEFB5F3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38" y="458569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Practical Example #1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120F4-DD1E-E7F6-A12C-FB1400AB7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082" y="1600201"/>
            <a:ext cx="9002111" cy="4525963"/>
          </a:xfrm>
        </p:spPr>
        <p:txBody>
          <a:bodyPr lIns="91440" tIns="45720" rIns="91440" bIns="45720" anchor="t"/>
          <a:lstStyle/>
          <a:p>
            <a:r>
              <a:rPr lang="en-US" dirty="0">
                <a:ea typeface="Calibri"/>
                <a:cs typeface="Calibri"/>
              </a:rPr>
              <a:t>SCENARIO</a:t>
            </a:r>
            <a:endParaRPr lang="en-US" dirty="0"/>
          </a:p>
          <a:p>
            <a:pPr lvl="1"/>
            <a:r>
              <a:rPr lang="en-US" dirty="0">
                <a:ea typeface="Calibri"/>
                <a:cs typeface="Calibri"/>
              </a:rPr>
              <a:t>New bill is proposed that aims to limit or rollback SSPs in Florida because of the claim that "access to syringes encourages people to </a:t>
            </a:r>
            <a:r>
              <a:rPr lang="en-US" b="1" dirty="0">
                <a:ea typeface="Calibri"/>
                <a:cs typeface="Calibri"/>
              </a:rPr>
              <a:t>start </a:t>
            </a:r>
            <a:r>
              <a:rPr lang="en-US" dirty="0">
                <a:ea typeface="Calibri"/>
                <a:cs typeface="Calibri"/>
              </a:rPr>
              <a:t>injecting drugs."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APPROACH</a:t>
            </a:r>
          </a:p>
          <a:p>
            <a:pPr lvl="1"/>
            <a:r>
              <a:rPr lang="en-US" dirty="0">
                <a:ea typeface="Calibri"/>
                <a:cs typeface="Calibri"/>
              </a:rPr>
              <a:t>Pull data from all SSPs to refute this claim and present findings to policymakers.</a:t>
            </a:r>
          </a:p>
          <a:p>
            <a:r>
              <a:rPr lang="en-US" dirty="0">
                <a:ea typeface="Calibri"/>
                <a:cs typeface="Calibri"/>
              </a:rPr>
              <a:t>WHAT VARIABLES/INDICATORS DO WE NEED?</a:t>
            </a:r>
          </a:p>
          <a:p>
            <a:pPr lvl="1"/>
            <a:r>
              <a:rPr lang="en-US" dirty="0">
                <a:ea typeface="Calibri"/>
                <a:cs typeface="Calibri"/>
              </a:rPr>
              <a:t>What do we actually have?</a:t>
            </a:r>
          </a:p>
        </p:txBody>
      </p:sp>
    </p:spTree>
    <p:extLst>
      <p:ext uri="{BB962C8B-B14F-4D97-AF65-F5344CB8AC3E}">
        <p14:creationId xmlns:p14="http://schemas.microsoft.com/office/powerpoint/2010/main" val="2223305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A53F-A890-174F-7809-60D2952E2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0744E-E2B3-85D9-DE5C-83445D7F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38" y="458569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Practical Example #1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F9882-665F-0CC3-587B-FB567D7B9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082" y="1600201"/>
            <a:ext cx="9002111" cy="4525963"/>
          </a:xfrm>
        </p:spPr>
        <p:txBody>
          <a:bodyPr lIns="91440" tIns="45720" rIns="91440" bIns="45720" anchor="t"/>
          <a:lstStyle/>
          <a:p>
            <a:r>
              <a:rPr lang="en-US" dirty="0">
                <a:ea typeface="Calibri"/>
                <a:cs typeface="Calibri"/>
              </a:rPr>
              <a:t>Age of First Injection</a:t>
            </a:r>
          </a:p>
          <a:p>
            <a:pPr lvl="1"/>
            <a:r>
              <a:rPr lang="en-US" dirty="0">
                <a:ea typeface="Calibri"/>
                <a:cs typeface="Calibri"/>
              </a:rPr>
              <a:t>Year you first injected?</a:t>
            </a:r>
          </a:p>
          <a:p>
            <a:pPr lvl="1"/>
            <a:r>
              <a:rPr lang="en-US" dirty="0">
                <a:ea typeface="Calibri"/>
                <a:cs typeface="Calibri"/>
              </a:rPr>
              <a:t>How old were you when you first injected?</a:t>
            </a:r>
          </a:p>
          <a:p>
            <a:r>
              <a:rPr lang="en-US" dirty="0">
                <a:ea typeface="Calibri"/>
                <a:cs typeface="Calibri"/>
              </a:rPr>
              <a:t>Current Age </a:t>
            </a:r>
          </a:p>
          <a:p>
            <a:pPr lvl="1"/>
            <a:r>
              <a:rPr lang="en-US" dirty="0">
                <a:ea typeface="Calibri"/>
                <a:cs typeface="Calibri"/>
              </a:rPr>
              <a:t>DOB</a:t>
            </a:r>
          </a:p>
          <a:p>
            <a:pPr lvl="1"/>
            <a:r>
              <a:rPr lang="en-US" dirty="0">
                <a:ea typeface="Calibri"/>
                <a:cs typeface="Calibri"/>
              </a:rPr>
              <a:t>Year of birth</a:t>
            </a:r>
          </a:p>
          <a:p>
            <a:pPr lvl="1"/>
            <a:r>
              <a:rPr lang="en-US" dirty="0">
                <a:ea typeface="Calibri"/>
                <a:cs typeface="Calibri"/>
              </a:rPr>
              <a:t>Self-reported age</a:t>
            </a:r>
          </a:p>
          <a:p>
            <a:r>
              <a:rPr lang="en-US" dirty="0">
                <a:ea typeface="Calibri"/>
                <a:cs typeface="Calibri"/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50263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EC29-AFCF-93F3-67BD-91A9B71C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2654-E868-C1C3-462C-9210F8CC0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38" y="458569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Practical Example #2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E939-04BD-FFD5-A41A-C1124B44D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082" y="1363718"/>
            <a:ext cx="9002111" cy="505148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SCENARIO</a:t>
            </a:r>
            <a:endParaRPr lang="en-US"/>
          </a:p>
          <a:p>
            <a:pPr lvl="1"/>
            <a:r>
              <a:rPr lang="en-US">
                <a:ea typeface="Calibri"/>
                <a:cs typeface="Calibri"/>
              </a:rPr>
              <a:t>SSP participants in Miami-Dade are reporting stronger and/or new effects from Fentanyl. SSPs in other areas are concerned this may soon impact their participants and want to begin spreading the word.</a:t>
            </a:r>
          </a:p>
          <a:p>
            <a:r>
              <a:rPr lang="en-US">
                <a:ea typeface="Calibri"/>
                <a:cs typeface="Calibri"/>
              </a:rPr>
              <a:t>APPROACH</a:t>
            </a:r>
          </a:p>
          <a:p>
            <a:pPr lvl="1"/>
            <a:r>
              <a:rPr lang="en-US">
                <a:ea typeface="Calibri"/>
                <a:cs typeface="Calibri"/>
              </a:rPr>
              <a:t>Pull drug checking data across SSPs to determine if and when new adulterants were first detected by region.</a:t>
            </a:r>
          </a:p>
          <a:p>
            <a:r>
              <a:rPr lang="en-US">
                <a:ea typeface="Calibri"/>
                <a:cs typeface="Calibri"/>
              </a:rPr>
              <a:t>WHAT VARIABLES/INDICATORS DO WE NEED?</a:t>
            </a:r>
          </a:p>
          <a:p>
            <a:pPr lvl="1"/>
            <a:r>
              <a:rPr lang="en-US">
                <a:ea typeface="Calibri"/>
                <a:cs typeface="Calibri"/>
              </a:rPr>
              <a:t>What do we actually have?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1E641-20C6-5751-58E2-B87BA4D26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5504-641D-27A7-BAAD-A4E2BC882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738" y="458569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Practical Example #2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9AC9E-1866-C0DE-8C4F-A32717E69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1082" y="1363718"/>
            <a:ext cx="9002111" cy="5051480"/>
          </a:xfrm>
        </p:spPr>
        <p:txBody>
          <a:bodyPr lIns="91440" tIns="45720" rIns="91440" bIns="45720" anchor="t"/>
          <a:lstStyle/>
          <a:p>
            <a:r>
              <a:rPr lang="en-US" dirty="0">
                <a:ea typeface="Calibri"/>
                <a:cs typeface="Calibri"/>
              </a:rPr>
              <a:t>Date</a:t>
            </a:r>
          </a:p>
          <a:p>
            <a:r>
              <a:rPr lang="en-US" dirty="0">
                <a:ea typeface="Calibri"/>
                <a:cs typeface="Calibri"/>
              </a:rPr>
              <a:t>Adulterants Detected</a:t>
            </a:r>
          </a:p>
          <a:p>
            <a:pPr lvl="1"/>
            <a:r>
              <a:rPr lang="en-US" dirty="0">
                <a:ea typeface="Calibri"/>
                <a:cs typeface="Calibri"/>
              </a:rPr>
              <a:t>Open text?</a:t>
            </a:r>
          </a:p>
          <a:p>
            <a:pPr lvl="2"/>
            <a:r>
              <a:rPr lang="en-US" dirty="0" err="1">
                <a:ea typeface="Calibri"/>
                <a:cs typeface="Calibri"/>
              </a:rPr>
              <a:t>Tranq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tranq</a:t>
            </a:r>
            <a:r>
              <a:rPr lang="en-US" dirty="0">
                <a:ea typeface="Calibri"/>
                <a:cs typeface="Calibri"/>
              </a:rPr>
              <a:t>, Xylazine, </a:t>
            </a:r>
            <a:r>
              <a:rPr lang="en-US" dirty="0" err="1">
                <a:ea typeface="Calibri"/>
                <a:cs typeface="Calibri"/>
              </a:rPr>
              <a:t>zylazine</a:t>
            </a:r>
            <a:r>
              <a:rPr lang="en-US" dirty="0">
                <a:ea typeface="Calibri"/>
                <a:cs typeface="Calibri"/>
              </a:rPr>
              <a:t>, XYL, Xyl... </a:t>
            </a:r>
          </a:p>
          <a:p>
            <a:r>
              <a:rPr lang="en-US" dirty="0">
                <a:ea typeface="Calibri"/>
                <a:cs typeface="Calibri"/>
              </a:rPr>
              <a:t>Location</a:t>
            </a:r>
          </a:p>
          <a:p>
            <a:pPr lvl="1"/>
            <a:r>
              <a:rPr lang="en-US" dirty="0">
                <a:ea typeface="Calibri"/>
                <a:cs typeface="Calibri"/>
              </a:rPr>
              <a:t>ZIP code?</a:t>
            </a:r>
          </a:p>
          <a:p>
            <a:pPr lvl="1"/>
            <a:r>
              <a:rPr lang="en-US" dirty="0">
                <a:ea typeface="Calibri"/>
                <a:cs typeface="Calibri"/>
              </a:rPr>
              <a:t>Open text?</a:t>
            </a:r>
          </a:p>
          <a:p>
            <a:pPr lvl="2"/>
            <a:r>
              <a:rPr lang="en-US" dirty="0">
                <a:ea typeface="Calibri"/>
                <a:cs typeface="Calibri"/>
              </a:rPr>
              <a:t>Miami, MIA, Mimi, </a:t>
            </a:r>
            <a:r>
              <a:rPr lang="en-US" dirty="0" err="1">
                <a:ea typeface="Calibri"/>
                <a:cs typeface="Calibri"/>
              </a:rPr>
              <a:t>miami</a:t>
            </a:r>
            <a:r>
              <a:rPr lang="en-US" dirty="0">
                <a:ea typeface="Calibri"/>
                <a:cs typeface="Calibri"/>
              </a:rPr>
              <a:t>... </a:t>
            </a:r>
          </a:p>
          <a:p>
            <a:pPr lvl="1"/>
            <a:r>
              <a:rPr lang="en-US" dirty="0">
                <a:ea typeface="Calibri"/>
                <a:cs typeface="Calibri"/>
              </a:rPr>
              <a:t>Neighborhood or street address?</a:t>
            </a:r>
          </a:p>
        </p:txBody>
      </p:sp>
    </p:spTree>
    <p:extLst>
      <p:ext uri="{BB962C8B-B14F-4D97-AF65-F5344CB8AC3E}">
        <p14:creationId xmlns:p14="http://schemas.microsoft.com/office/powerpoint/2010/main" val="172657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5433C-267E-6F7A-228A-213E74F41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CC2B-9B3C-8CC1-50B9-D4E758D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807" y="481361"/>
            <a:ext cx="9144000" cy="1143000"/>
          </a:xfrm>
        </p:spPr>
        <p:txBody>
          <a:bodyPr lIns="91440" tIns="45720" rIns="91440" bIns="45720" anchor="t"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8D29E-AB5D-9D19-9B29-60802C62114D}"/>
              </a:ext>
            </a:extLst>
          </p:cNvPr>
          <p:cNvSpPr txBox="1"/>
          <p:nvPr/>
        </p:nvSpPr>
        <p:spPr>
          <a:xfrm>
            <a:off x="3038707" y="1719147"/>
            <a:ext cx="84582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Excel/Google Sheets Pros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Probably Most Common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Accommodates Many Data Types</a:t>
            </a:r>
            <a:endParaRPr lang="en-US" dirty="0"/>
          </a:p>
          <a:p>
            <a:pPr lvl="1"/>
            <a:r>
              <a:rPr lang="en-US" sz="3200" dirty="0">
                <a:latin typeface="Arial"/>
                <a:cs typeface="Arial"/>
              </a:rPr>
              <a:t>+ Can Create Summary Tables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Easy Startup &amp; Use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Multiple Tabs for Data Organization</a:t>
            </a:r>
            <a:endParaRPr lang="en-US" sz="3200" dirty="0">
              <a:cs typeface="Arial"/>
            </a:endParaRPr>
          </a:p>
        </p:txBody>
      </p:sp>
      <p:pic>
        <p:nvPicPr>
          <p:cNvPr id="7" name="Picture 6" descr="A green square with a white x on it&#10;&#10;AI-generated content may be incorrect.">
            <a:extLst>
              <a:ext uri="{FF2B5EF4-FFF2-40B4-BE49-F238E27FC236}">
                <a16:creationId xmlns:a16="http://schemas.microsoft.com/office/drawing/2014/main" id="{30E71F70-77E7-5318-1A12-BCFAC57A2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012" y="5754221"/>
            <a:ext cx="939790" cy="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63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D19AC-F24F-7A7A-525E-AFBC9FD03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8F0D-86B4-564C-9840-17ED4CC7B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473" y="564996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8F7E5-C872-0320-7CF6-A99F228F7864}"/>
              </a:ext>
            </a:extLst>
          </p:cNvPr>
          <p:cNvSpPr txBox="1"/>
          <p:nvPr/>
        </p:nvSpPr>
        <p:spPr>
          <a:xfrm>
            <a:off x="2982951" y="1707996"/>
            <a:ext cx="862521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 </a:t>
            </a:r>
            <a:r>
              <a:rPr lang="en-US" sz="3200" dirty="0">
                <a:latin typeface="Arial"/>
                <a:cs typeface="Arial"/>
              </a:rPr>
              <a:t>Excel/Google Sheets Cons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Not a Survey</a:t>
            </a:r>
            <a:endParaRPr lang="en-US" sz="3200" dirty="0">
              <a:cs typeface="Arial"/>
            </a:endParaRPr>
          </a:p>
          <a:p>
            <a:pPr lvl="1"/>
            <a:r>
              <a:rPr lang="en-US" sz="3200" dirty="0">
                <a:latin typeface="Arial"/>
                <a:cs typeface="Arial"/>
              </a:rPr>
              <a:t>- Can Get Messy Quickly</a:t>
            </a:r>
            <a:endParaRPr lang="en-US" sz="3200" dirty="0">
              <a:cs typeface="Arial"/>
            </a:endParaRPr>
          </a:p>
          <a:p>
            <a:pPr lvl="1"/>
            <a:r>
              <a:rPr lang="en-US" sz="3200" dirty="0">
                <a:latin typeface="Arial"/>
                <a:cs typeface="Arial"/>
              </a:rPr>
              <a:t>- Learning Curve to Use Well</a:t>
            </a:r>
            <a:endParaRPr lang="en-US" sz="3200" dirty="0">
              <a:cs typeface="Arial"/>
            </a:endParaRPr>
          </a:p>
          <a:p>
            <a:pPr lvl="1"/>
            <a:r>
              <a:rPr lang="en-US" sz="3200" dirty="0">
                <a:latin typeface="Arial"/>
                <a:cs typeface="Arial"/>
              </a:rPr>
              <a:t>- Not HIPAA Compliant</a:t>
            </a:r>
            <a:endParaRPr lang="en-US" sz="3200" dirty="0">
              <a:cs typeface="Arial"/>
            </a:endParaRPr>
          </a:p>
          <a:p>
            <a:pPr lvl="1"/>
            <a:endParaRPr lang="en-US" sz="3200" dirty="0">
              <a:cs typeface="Arial" panose="020B0604020202020204" pitchFamily="34" charset="0"/>
            </a:endParaRPr>
          </a:p>
        </p:txBody>
      </p:sp>
      <p:pic>
        <p:nvPicPr>
          <p:cNvPr id="4" name="Picture 3" descr="A green square with a white x on it&#10;&#10;AI-generated content may be incorrect.">
            <a:extLst>
              <a:ext uri="{FF2B5EF4-FFF2-40B4-BE49-F238E27FC236}">
                <a16:creationId xmlns:a16="http://schemas.microsoft.com/office/drawing/2014/main" id="{AA849ED0-99F0-AA9A-DFE8-A8E03B38BA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012" y="5754221"/>
            <a:ext cx="939790" cy="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466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9664676-DEFF-633A-1DC0-D070ECE5B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213" y="730525"/>
            <a:ext cx="7772400" cy="347881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875CEDF-B95B-4FA5-E45D-6B7959963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110986"/>
              </p:ext>
            </p:extLst>
          </p:nvPr>
        </p:nvGraphicFramePr>
        <p:xfrm>
          <a:off x="6556922" y="4526543"/>
          <a:ext cx="144323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43230">
                  <a:extLst>
                    <a:ext uri="{9D8B030D-6E8A-4147-A177-3AD203B41FA5}">
                      <a16:colId xmlns:a16="http://schemas.microsoft.com/office/drawing/2014/main" val="1274201845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err="1">
                          <a:effectLst/>
                        </a:rPr>
                        <a:t>da_id_code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2969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err="1">
                          <a:effectLst/>
                        </a:rPr>
                        <a:t>id_code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8866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err="1">
                          <a:effectLst/>
                        </a:rPr>
                        <a:t>en_id_code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25082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err="1">
                          <a:effectLst/>
                        </a:rPr>
                        <a:t>idcode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45649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>
                          <a:effectLst/>
                        </a:rPr>
                        <a:t>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0268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err="1">
                          <a:effectLst/>
                        </a:rPr>
                        <a:t>record_id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6552898"/>
                  </a:ext>
                </a:extLst>
              </a:tr>
            </a:tbl>
          </a:graphicData>
        </a:graphic>
      </p:graphicFrame>
      <p:pic>
        <p:nvPicPr>
          <p:cNvPr id="2" name="Picture 1" descr="A green square with a white x on it&#10;&#10;AI-generated content may be incorrect.">
            <a:extLst>
              <a:ext uri="{FF2B5EF4-FFF2-40B4-BE49-F238E27FC236}">
                <a16:creationId xmlns:a16="http://schemas.microsoft.com/office/drawing/2014/main" id="{25BCCE4A-50D5-AE6C-8DBB-7CBA27F36E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012" y="5754221"/>
            <a:ext cx="939790" cy="875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55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4903-2515-C5F7-0A59-AF212D58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87D65-1BBE-FA8A-7071-28DB83041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4296" y="381000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29194-8098-C1A6-76D5-781B2B995B96}"/>
              </a:ext>
            </a:extLst>
          </p:cNvPr>
          <p:cNvSpPr txBox="1"/>
          <p:nvPr/>
        </p:nvSpPr>
        <p:spPr>
          <a:xfrm>
            <a:off x="2927196" y="1524000"/>
            <a:ext cx="845820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Google Forms Pros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Free or Low Cost 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Low-Barrier Survey Builder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Provides Response Summaries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Easily Export to Excel or Sheets</a:t>
            </a:r>
            <a:endParaRPr lang="en-US" sz="3200" dirty="0">
              <a:cs typeface="Arial"/>
            </a:endParaRPr>
          </a:p>
        </p:txBody>
      </p:sp>
      <p:pic>
        <p:nvPicPr>
          <p:cNvPr id="4" name="Picture 3" descr="A colorful letter g&#10;&#10;AI-generated content may be incorrect.">
            <a:extLst>
              <a:ext uri="{FF2B5EF4-FFF2-40B4-BE49-F238E27FC236}">
                <a16:creationId xmlns:a16="http://schemas.microsoft.com/office/drawing/2014/main" id="{F6285AAB-B545-CF19-64EE-2F1DC841E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377" y="5690127"/>
            <a:ext cx="948237" cy="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09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556F3-C001-4137-498D-2F6B5B5A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7D4FE-E11F-F5AF-B7EC-A0748F860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381000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69BB21-9707-9B72-C23C-0D6E400E70C5}"/>
              </a:ext>
            </a:extLst>
          </p:cNvPr>
          <p:cNvSpPr txBox="1"/>
          <p:nvPr/>
        </p:nvSpPr>
        <p:spPr>
          <a:xfrm>
            <a:off x="2971800" y="1524000"/>
            <a:ext cx="8458200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Google Forms Cons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Survey Flow Difficult to Customize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Cross-Platform Migration Difficult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One Survey per Project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Limited Data/Field Types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HIPAA Compliance Costs Extra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Data Exports Not Customizable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Does Not Support Variable Naming</a:t>
            </a:r>
            <a:endParaRPr lang="en-US" sz="3200" dirty="0">
              <a:cs typeface="Arial"/>
            </a:endParaRPr>
          </a:p>
          <a:p>
            <a:pPr lvl="1"/>
            <a:endParaRPr lang="en-US" sz="3200" dirty="0">
              <a:cs typeface="Arial" panose="020B0604020202020204" pitchFamily="34" charset="0"/>
            </a:endParaRPr>
          </a:p>
        </p:txBody>
      </p:sp>
      <p:pic>
        <p:nvPicPr>
          <p:cNvPr id="8" name="Picture 7" descr="A colorful letter g&#10;&#10;AI-generated content may be incorrect.">
            <a:extLst>
              <a:ext uri="{FF2B5EF4-FFF2-40B4-BE49-F238E27FC236}">
                <a16:creationId xmlns:a16="http://schemas.microsoft.com/office/drawing/2014/main" id="{A5B0DA5C-B737-9A27-C4CA-08F5E521E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377" y="5690127"/>
            <a:ext cx="948237" cy="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6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DDD3-2CDA-EAFC-963B-0B279592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2541B0-8940-7631-0E38-F2E1D9281A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5" r="-64" b="-76"/>
          <a:stretch>
            <a:fillRect/>
          </a:stretch>
        </p:blipFill>
        <p:spPr>
          <a:xfrm>
            <a:off x="3125650" y="235409"/>
            <a:ext cx="7586659" cy="6387182"/>
          </a:xfrm>
          <a:prstGeom prst="rect">
            <a:avLst/>
          </a:prstGeom>
        </p:spPr>
      </p:pic>
      <p:pic>
        <p:nvPicPr>
          <p:cNvPr id="3" name="Picture 2" descr="A colorful letter g&#10;&#10;AI-generated content may be incorrect.">
            <a:extLst>
              <a:ext uri="{FF2B5EF4-FFF2-40B4-BE49-F238E27FC236}">
                <a16:creationId xmlns:a16="http://schemas.microsoft.com/office/drawing/2014/main" id="{1AECBEEF-FBB4-E2A9-05AC-C2631303E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0377" y="5690127"/>
            <a:ext cx="948237" cy="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55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549E0-5D33-620C-FE23-70D5A509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187-0129-FFA3-F054-6560A5358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381000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B2F07F-EE3C-768C-AE3E-652D4F6B2E6E}"/>
              </a:ext>
            </a:extLst>
          </p:cNvPr>
          <p:cNvSpPr txBox="1"/>
          <p:nvPr/>
        </p:nvSpPr>
        <p:spPr>
          <a:xfrm>
            <a:off x="2971800" y="1524000"/>
            <a:ext cx="8458200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 </a:t>
            </a:r>
            <a:r>
              <a:rPr lang="en-US" sz="3200" dirty="0"/>
              <a:t>Qualtrics Pros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Survey Forms Shareable (Within Qualtrics)</a:t>
            </a:r>
          </a:p>
          <a:p>
            <a:pPr lvl="1"/>
            <a:r>
              <a:rPr lang="en-US" sz="3200" dirty="0"/>
              <a:t>+ Response Analytics Available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Customizable Survey Flows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Data Exports Nicely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Custom Variable Labels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Very Mobile Friendly</a:t>
            </a: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59D321F-C83E-46BD-86FA-521EB41ECE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142" y="6051177"/>
            <a:ext cx="1676400" cy="53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209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906CD-9A08-5ED6-5274-12CE69C00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BD5E-D83F-46BA-ED87-947E860E6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457196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588AD-A942-0985-24B9-184F7AE8F206}"/>
              </a:ext>
            </a:extLst>
          </p:cNvPr>
          <p:cNvSpPr txBox="1"/>
          <p:nvPr/>
        </p:nvSpPr>
        <p:spPr>
          <a:xfrm>
            <a:off x="2971800" y="1524000"/>
            <a:ext cx="8458200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Qualtrics Cons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i="1" dirty="0">
                <a:latin typeface="Arial"/>
                <a:cs typeface="Arial"/>
              </a:rPr>
              <a:t>Extremely E</a:t>
            </a:r>
            <a:r>
              <a:rPr lang="en-US" sz="3200" dirty="0">
                <a:latin typeface="Arial"/>
                <a:cs typeface="Arial"/>
              </a:rPr>
              <a:t>xpensive</a:t>
            </a:r>
            <a:endParaRPr lang="en-US" sz="3200" dirty="0">
              <a:cs typeface="Arial"/>
            </a:endParaRP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One Survey per Project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Survey Flow &amp; Question Types Limited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One Survey per Project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Limited Customization to Look/Feel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Cross-platform Migration Difficult</a:t>
            </a:r>
          </a:p>
          <a:p>
            <a:pPr marL="914400" lvl="1" indent="-457200">
              <a:buFont typeface="Calibri"/>
              <a:buChar char="-"/>
            </a:pPr>
            <a:r>
              <a:rPr lang="en-US" sz="3200" dirty="0">
                <a:latin typeface="Arial"/>
                <a:cs typeface="Arial"/>
              </a:rPr>
              <a:t>Limited Report Building Options</a:t>
            </a: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359AE31-87B7-85B1-E978-80F769827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142" y="6051177"/>
            <a:ext cx="1676400" cy="53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122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A7EEF-7FD0-1078-5137-145FE016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04C8721-34D4-23CA-4623-37C16ABA6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142" y="6051177"/>
            <a:ext cx="1676400" cy="535321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2887E8-4780-FC6C-BC5C-D072BFDEA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136" y="730846"/>
            <a:ext cx="7772400" cy="539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296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E2133-8956-1D7B-C98C-6DE11C34C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5FC0-A831-6F2B-A99B-50934830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381000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A36258-070E-AC81-59F7-676C0135A5D6}"/>
              </a:ext>
            </a:extLst>
          </p:cNvPr>
          <p:cNvSpPr txBox="1"/>
          <p:nvPr/>
        </p:nvSpPr>
        <p:spPr>
          <a:xfrm>
            <a:off x="2971800" y="1524000"/>
            <a:ext cx="8458200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cs typeface="Arial"/>
              </a:rPr>
              <a:t> Microsoft Forms Pros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Free with Microsoft Account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Low-Barrier Access &amp; Use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Does Allow for Some Branching</a:t>
            </a:r>
            <a:endParaRPr lang="en-US" dirty="0"/>
          </a:p>
        </p:txBody>
      </p:sp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49B73931-B212-60B2-9AFE-3DE865B3D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450" y="5562600"/>
            <a:ext cx="19431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138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56044-EBF3-C1FC-6A5E-CCC38DC91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C1525-B8E4-4A3A-21F4-B1A8DCB9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532388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CDAE58-40CD-3240-5B63-3C89035B0486}"/>
              </a:ext>
            </a:extLst>
          </p:cNvPr>
          <p:cNvSpPr txBox="1"/>
          <p:nvPr/>
        </p:nvSpPr>
        <p:spPr>
          <a:xfrm>
            <a:off x="2971800" y="1524000"/>
            <a:ext cx="8458200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 </a:t>
            </a:r>
            <a:r>
              <a:rPr lang="en-US" sz="3200" dirty="0"/>
              <a:t>Microsoft Forms Cons</a:t>
            </a:r>
          </a:p>
          <a:p>
            <a:pPr lvl="1"/>
            <a:r>
              <a:rPr lang="en-US" sz="3200" dirty="0"/>
              <a:t>- Survey Flow Difficult to Customize</a:t>
            </a:r>
          </a:p>
          <a:p>
            <a:pPr lvl="1"/>
            <a:r>
              <a:rPr lang="en-US" sz="3200" dirty="0"/>
              <a:t>- Cross-Platform Migration Difficult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Data Output Less Usable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One Survey per Project</a:t>
            </a:r>
            <a:endParaRPr lang="en-US" sz="3200" dirty="0">
              <a:cs typeface="Arial"/>
            </a:endParaRPr>
          </a:p>
          <a:p>
            <a:pPr lvl="1"/>
            <a:r>
              <a:rPr lang="en-US" sz="3200" dirty="0">
                <a:latin typeface="Arial"/>
                <a:cs typeface="Arial"/>
              </a:rPr>
              <a:t>- HIPAA Compliance Costs Extra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Does Not Support Variable Naming</a:t>
            </a:r>
          </a:p>
          <a:p>
            <a:pPr lvl="1"/>
            <a:endParaRPr lang="en-US" sz="3200" dirty="0"/>
          </a:p>
        </p:txBody>
      </p:sp>
      <p:pic>
        <p:nvPicPr>
          <p:cNvPr id="4" name="Picture 3" descr="A blue and green logo&#10;&#10;AI-generated content may be incorrect.">
            <a:extLst>
              <a:ext uri="{FF2B5EF4-FFF2-40B4-BE49-F238E27FC236}">
                <a16:creationId xmlns:a16="http://schemas.microsoft.com/office/drawing/2014/main" id="{CAA806B7-26EB-78F4-1747-806A6F4E23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450" y="5562600"/>
            <a:ext cx="19431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54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CA6BFE-A0E9-4561-37FC-C6D9D0A4B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9735" y="627586"/>
            <a:ext cx="7772400" cy="5602827"/>
          </a:xfrm>
          <a:prstGeom prst="rect">
            <a:avLst/>
          </a:prstGeom>
        </p:spPr>
      </p:pic>
      <p:pic>
        <p:nvPicPr>
          <p:cNvPr id="5" name="Picture 4" descr="A blue and green logo&#10;&#10;AI-generated content may be incorrect.">
            <a:extLst>
              <a:ext uri="{FF2B5EF4-FFF2-40B4-BE49-F238E27FC236}">
                <a16:creationId xmlns:a16="http://schemas.microsoft.com/office/drawing/2014/main" id="{18AA09B5-5586-8A39-27A1-CEB10B3AF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450" y="5562600"/>
            <a:ext cx="19431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220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A5898-553A-1434-FB54-B7CFA71E7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14653-856D-F3C6-7CDA-92316EB8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347" y="502024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F2D17-8412-1C02-4A75-D6976B46FE1A}"/>
              </a:ext>
            </a:extLst>
          </p:cNvPr>
          <p:cNvSpPr txBox="1"/>
          <p:nvPr/>
        </p:nvSpPr>
        <p:spPr>
          <a:xfrm>
            <a:off x="2985247" y="1524000"/>
            <a:ext cx="8458200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rial"/>
                <a:cs typeface="Arial"/>
              </a:rPr>
              <a:t> Bisque Pros (New!)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Low Cost (Use-Based)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Designed by Researchers</a:t>
            </a:r>
            <a:endParaRPr lang="en-US" sz="3200" dirty="0">
              <a:cs typeface="Arial"/>
            </a:endParaRPr>
          </a:p>
          <a:p>
            <a:pPr lvl="1"/>
            <a:r>
              <a:rPr lang="en-US" sz="3200" dirty="0">
                <a:latin typeface="Arial"/>
                <a:cs typeface="Arial"/>
              </a:rPr>
              <a:t>+ Intuitive Survey Builder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Shareable Survey Templates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Data Summaries Available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Data Exports Are Smooth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+ (Coming Soon!) HIPAA Compliance</a:t>
            </a: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3D1667BF-F778-9CB8-7DE3-B1B280AAF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79" y="5850497"/>
            <a:ext cx="1118557" cy="11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298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ED0A-4DFC-2DC5-E613-42D9C8C9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5803-DA08-CADF-7065-5AC285D18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2347" y="381000"/>
            <a:ext cx="9144000" cy="1143000"/>
          </a:xfrm>
        </p:spPr>
        <p:txBody>
          <a:bodyPr/>
          <a:lstStyle/>
          <a:p>
            <a:r>
              <a:rPr lang="en-US" dirty="0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A928E-1E58-2683-D2EB-927ACA02EAA7}"/>
              </a:ext>
            </a:extLst>
          </p:cNvPr>
          <p:cNvSpPr txBox="1"/>
          <p:nvPr/>
        </p:nvSpPr>
        <p:spPr>
          <a:xfrm>
            <a:off x="2985247" y="1524000"/>
            <a:ext cx="845820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latin typeface="Arial"/>
                <a:cs typeface="Arial"/>
              </a:rPr>
              <a:t> </a:t>
            </a:r>
            <a:r>
              <a:rPr lang="en-US" sz="3200" dirty="0">
                <a:latin typeface="Arial"/>
                <a:cs typeface="Arial"/>
              </a:rPr>
              <a:t>Bisque Cons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Under Development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One Survey per Project</a:t>
            </a:r>
          </a:p>
          <a:p>
            <a:pPr lvl="1"/>
            <a:r>
              <a:rPr lang="en-US" sz="3200" dirty="0">
                <a:latin typeface="Arial"/>
                <a:cs typeface="Arial"/>
              </a:rPr>
              <a:t>- Does Not Currently Support Variable Naming</a:t>
            </a:r>
            <a:endParaRPr lang="en-US" sz="3200" dirty="0">
              <a:cs typeface="Arial"/>
            </a:endParaRPr>
          </a:p>
          <a:p>
            <a:pPr lvl="1"/>
            <a:endParaRPr lang="en-US" sz="3200" dirty="0">
              <a:cs typeface="Arial" panose="020B0604020202020204" pitchFamily="34" charset="0"/>
            </a:endParaRPr>
          </a:p>
        </p:txBody>
      </p:sp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AAFDD371-CEF2-EF1D-1D2E-F102F101B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79" y="5850497"/>
            <a:ext cx="1118557" cy="11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539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3CF059-A7FC-463D-CC53-1C7BE7B86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054" y="1007503"/>
            <a:ext cx="7772400" cy="4554140"/>
          </a:xfrm>
          <a:prstGeom prst="rect">
            <a:avLst/>
          </a:prstGeom>
        </p:spPr>
      </p:pic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D825AB35-0054-5CEC-6470-36D33DAAD2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79" y="5850497"/>
            <a:ext cx="1118557" cy="11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21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577C-E022-7C4C-6F0C-17CCB5B04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143000"/>
          </a:xfrm>
        </p:spPr>
        <p:txBody>
          <a:bodyPr/>
          <a:lstStyle/>
          <a:p>
            <a:r>
              <a:rPr lang="en-US"/>
              <a:t>Pros &amp; Cons of Data Platforms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A222A-1B8A-3985-EE6F-E27B8733D6B6}"/>
              </a:ext>
            </a:extLst>
          </p:cNvPr>
          <p:cNvSpPr txBox="1"/>
          <p:nvPr/>
        </p:nvSpPr>
        <p:spPr>
          <a:xfrm>
            <a:off x="2971800" y="1295400"/>
            <a:ext cx="845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/>
              <a:t> </a:t>
            </a:r>
            <a:r>
              <a:rPr lang="en-US" sz="3200"/>
              <a:t>REDCap Pros</a:t>
            </a:r>
          </a:p>
          <a:p>
            <a:pPr lvl="1"/>
            <a:r>
              <a:rPr lang="en-US" sz="3200"/>
              <a:t>+ Projects/Data Import/Upload Easily</a:t>
            </a:r>
          </a:p>
          <a:p>
            <a:pPr lvl="1"/>
            <a:r>
              <a:rPr lang="en-US" sz="3200"/>
              <a:t>+ HIPAA Compliant &amp; Backed-up</a:t>
            </a:r>
          </a:p>
          <a:p>
            <a:pPr lvl="1"/>
            <a:r>
              <a:rPr lang="en-US" sz="3200"/>
              <a:t>+ Easily Customizable Survey Flows</a:t>
            </a:r>
          </a:p>
          <a:p>
            <a:pPr lvl="1"/>
            <a:r>
              <a:rPr lang="en-US" sz="3200"/>
              <a:t>+ Customizable Data Exports</a:t>
            </a:r>
          </a:p>
          <a:p>
            <a:pPr lvl="1"/>
            <a:r>
              <a:rPr lang="en-US" sz="3200"/>
              <a:t>+ User Rights to Control Access</a:t>
            </a:r>
          </a:p>
          <a:p>
            <a:pPr lvl="1"/>
            <a:r>
              <a:rPr lang="en-US" sz="3200"/>
              <a:t>+ Improvements/Upgrades Ongoing</a:t>
            </a:r>
          </a:p>
          <a:p>
            <a:pPr lvl="1"/>
            <a:r>
              <a:rPr lang="en-US" sz="3200" b="0" i="0">
                <a:effectLst/>
              </a:rPr>
              <a:t>+ Survey Mode for </a:t>
            </a:r>
            <a:r>
              <a:rPr lang="en-US" sz="3200"/>
              <a:t>Links &amp; QR Codes</a:t>
            </a:r>
          </a:p>
          <a:p>
            <a:pPr lvl="1"/>
            <a:r>
              <a:rPr lang="en-US" sz="3200"/>
              <a:t>+ </a:t>
            </a:r>
            <a:r>
              <a:rPr lang="en-US" sz="3200" b="0" i="0">
                <a:effectLst/>
              </a:rPr>
              <a:t>Mobile App </a:t>
            </a:r>
            <a:r>
              <a:rPr lang="en-US" sz="3200"/>
              <a:t>for Offline Collection</a:t>
            </a:r>
            <a:endParaRPr lang="en-US" sz="3200" b="0" i="0">
              <a:effectLst/>
            </a:endParaRPr>
          </a:p>
          <a:p>
            <a:pPr lvl="1"/>
            <a:r>
              <a:rPr lang="en-US" sz="3200"/>
              <a:t>+ </a:t>
            </a:r>
            <a:r>
              <a:rPr lang="en-US" sz="3200" b="0" i="0">
                <a:effectLst/>
              </a:rPr>
              <a:t>Clinical Data Pull for EHR Data</a:t>
            </a:r>
          </a:p>
        </p:txBody>
      </p:sp>
      <p:pic>
        <p:nvPicPr>
          <p:cNvPr id="4" name="Picture 3" descr="A red hat on a black letter&#10;&#10;AI-generated content may be incorrect.">
            <a:extLst>
              <a:ext uri="{FF2B5EF4-FFF2-40B4-BE49-F238E27FC236}">
                <a16:creationId xmlns:a16="http://schemas.microsoft.com/office/drawing/2014/main" id="{3D49AF6C-7BF7-35A3-1863-34F0CB9B9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49" y="5715000"/>
            <a:ext cx="1855692" cy="9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66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C7D73-53C3-EE81-D89B-568AF810F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ABB15-C81A-027C-5C4F-7627F8DC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381000"/>
            <a:ext cx="9144000" cy="1143000"/>
          </a:xfrm>
        </p:spPr>
        <p:txBody>
          <a:bodyPr/>
          <a:lstStyle/>
          <a:p>
            <a:r>
              <a:rPr lang="en-US"/>
              <a:t>Pros &amp; Cons of Data Platforms (cont.)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DCE70C-6BC8-01C2-D872-D2D823A934AE}"/>
              </a:ext>
            </a:extLst>
          </p:cNvPr>
          <p:cNvSpPr txBox="1"/>
          <p:nvPr/>
        </p:nvSpPr>
        <p:spPr>
          <a:xfrm>
            <a:off x="2971800" y="1295400"/>
            <a:ext cx="8458200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REDCap</a:t>
            </a:r>
            <a:r>
              <a:rPr lang="en-US" sz="3200">
                <a:latin typeface="Arial"/>
                <a:cs typeface="Arial"/>
              </a:rPr>
              <a:t> Cons</a:t>
            </a:r>
          </a:p>
          <a:p>
            <a:pPr lvl="1"/>
            <a:r>
              <a:rPr lang="en-US" sz="3200">
                <a:latin typeface="Arial"/>
                <a:cs typeface="Arial"/>
              </a:rPr>
              <a:t>- Costly for Non-501(c)(3) Organizations</a:t>
            </a:r>
          </a:p>
          <a:p>
            <a:pPr lvl="1"/>
            <a:r>
              <a:rPr lang="en-US" sz="3200">
                <a:latin typeface="Arial"/>
                <a:cs typeface="Arial"/>
              </a:rPr>
              <a:t>- Requires IT (Servers &amp; Maintenance)</a:t>
            </a:r>
          </a:p>
          <a:p>
            <a:pPr lvl="1"/>
            <a:r>
              <a:rPr lang="en-US" sz="3200">
                <a:latin typeface="Arial"/>
                <a:cs typeface="Arial"/>
              </a:rPr>
              <a:t>- Learning Curve for Use</a:t>
            </a:r>
          </a:p>
          <a:p>
            <a:pPr lvl="1"/>
            <a:r>
              <a:rPr lang="en-US" sz="3200">
                <a:latin typeface="Arial"/>
                <a:cs typeface="Arial"/>
              </a:rPr>
              <a:t>- May Need External Data Processing</a:t>
            </a:r>
            <a:endParaRPr lang="en-US" sz="3200" b="0" i="0">
              <a:effectLst/>
              <a:latin typeface="Arial"/>
              <a:cs typeface="Arial"/>
            </a:endParaRPr>
          </a:p>
        </p:txBody>
      </p:sp>
      <p:pic>
        <p:nvPicPr>
          <p:cNvPr id="4" name="Picture 3" descr="A red hat on a black letter&#10;&#10;AI-generated content may be incorrect.">
            <a:extLst>
              <a:ext uri="{FF2B5EF4-FFF2-40B4-BE49-F238E27FC236}">
                <a16:creationId xmlns:a16="http://schemas.microsoft.com/office/drawing/2014/main" id="{3B0335D1-647C-D7DB-7A67-22F6ACBC0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49" y="5715000"/>
            <a:ext cx="1855692" cy="9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589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9504FE-4000-31FF-B73F-0285BE05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414" y="433451"/>
            <a:ext cx="7414084" cy="5991097"/>
          </a:xfrm>
          <a:prstGeom prst="rect">
            <a:avLst/>
          </a:prstGeom>
        </p:spPr>
      </p:pic>
      <p:pic>
        <p:nvPicPr>
          <p:cNvPr id="8" name="Picture 7" descr="A red hat on a black letter&#10;&#10;AI-generated content may be incorrect.">
            <a:extLst>
              <a:ext uri="{FF2B5EF4-FFF2-40B4-BE49-F238E27FC236}">
                <a16:creationId xmlns:a16="http://schemas.microsoft.com/office/drawing/2014/main" id="{2E0E2400-F3BD-5AC2-191E-CFA1183742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449" y="5715000"/>
            <a:ext cx="1855692" cy="9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388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25A6-BF91-0F3C-6F81-8D544899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362200"/>
            <a:ext cx="10972800" cy="2133600"/>
          </a:xfrm>
        </p:spPr>
        <p:txBody>
          <a:bodyPr lIns="91440" tIns="45720" rIns="91440" bIns="45720" anchor="t"/>
          <a:lstStyle/>
          <a:p>
            <a:r>
              <a:rPr lang="en-US" b="1" dirty="0"/>
              <a:t>Hands-On Exploration is Next!</a:t>
            </a:r>
            <a:br>
              <a:rPr lang="en-US" dirty="0"/>
            </a:br>
            <a:br>
              <a:rPr lang="en-US" dirty="0"/>
            </a:br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90022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03E85-6CB8-6099-C84C-E72301A5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2971"/>
            <a:ext cx="10972800" cy="792162"/>
          </a:xfrm>
        </p:spPr>
        <p:txBody>
          <a:bodyPr/>
          <a:lstStyle/>
          <a:p>
            <a:r>
              <a:rPr lang="en-US" dirty="0"/>
              <a:t>Before We Start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3B5C4-1345-4C34-CAC8-BDFE36CAC757}"/>
              </a:ext>
            </a:extLst>
          </p:cNvPr>
          <p:cNvSpPr txBox="1"/>
          <p:nvPr/>
        </p:nvSpPr>
        <p:spPr>
          <a:xfrm>
            <a:off x="1362075" y="2060729"/>
            <a:ext cx="9467850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This is a workshop – please don’t be afraid to participate.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All responses are </a:t>
            </a:r>
            <a:r>
              <a:rPr lang="en-US" sz="2800" b="1" u="sng" dirty="0">
                <a:latin typeface="Arial"/>
                <a:cs typeface="Arial"/>
              </a:rPr>
              <a:t>anonymous</a:t>
            </a:r>
            <a:r>
              <a:rPr lang="en-US" sz="2800" dirty="0">
                <a:latin typeface="Arial"/>
                <a:cs typeface="Arial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u="sng" dirty="0">
                <a:latin typeface="Arial"/>
                <a:cs typeface="Arial"/>
              </a:rPr>
              <a:t>No</a:t>
            </a:r>
            <a:r>
              <a:rPr lang="en-US" sz="2800" dirty="0">
                <a:latin typeface="Arial"/>
                <a:cs typeface="Arial"/>
              </a:rPr>
              <a:t> wrong answers!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93220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32DC6-81C4-73CA-64B6-79C78D66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347119"/>
            <a:ext cx="10972800" cy="2163762"/>
          </a:xfrm>
        </p:spPr>
        <p:txBody>
          <a:bodyPr/>
          <a:lstStyle/>
          <a:p>
            <a:r>
              <a:rPr lang="en-US" dirty="0"/>
              <a:t>What platform might be best for us?</a:t>
            </a:r>
            <a:br>
              <a:rPr lang="en-US" dirty="0"/>
            </a:br>
            <a:r>
              <a:rPr lang="en-US" dirty="0"/>
              <a:t>How is our data collected? </a:t>
            </a:r>
            <a:br>
              <a:rPr lang="en-US" dirty="0"/>
            </a:br>
            <a:r>
              <a:rPr lang="en-US" dirty="0"/>
              <a:t>What do we do with data?</a:t>
            </a:r>
          </a:p>
        </p:txBody>
      </p:sp>
    </p:spTree>
    <p:extLst>
      <p:ext uri="{BB962C8B-B14F-4D97-AF65-F5344CB8AC3E}">
        <p14:creationId xmlns:p14="http://schemas.microsoft.com/office/powerpoint/2010/main" val="3523939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C63B3-0BC5-192A-38D4-97F8364D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025ACD3-49FC-B9C4-5E32-567BD7E98BEF}"/>
              </a:ext>
            </a:extLst>
          </p:cNvPr>
          <p:cNvSpPr txBox="1">
            <a:spLocks/>
          </p:cNvSpPr>
          <p:nvPr/>
        </p:nvSpPr>
        <p:spPr>
          <a:xfrm>
            <a:off x="2582917" y="1711872"/>
            <a:ext cx="7026165" cy="60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https://forms.gle/5RNU7Fy9FBrmAjCZ8</a:t>
            </a:r>
            <a:endParaRPr lang="en-US"/>
          </a:p>
          <a:p>
            <a:pPr marL="0" indent="0" algn="ctr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2F99B3F-08F1-A97D-B4E8-4CABE75E6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200" cy="762000"/>
          </a:xfrm>
        </p:spPr>
        <p:txBody>
          <a:bodyPr/>
          <a:lstStyle/>
          <a:p>
            <a:pPr algn="l"/>
            <a:r>
              <a:rPr lang="en-US"/>
              <a:t>Google Forms</a:t>
            </a: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CC62821C-E4EC-9D46-DFFA-88865F3E3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026" y="2473216"/>
            <a:ext cx="3185948" cy="3185948"/>
          </a:xfrm>
          <a:prstGeom prst="rect">
            <a:avLst/>
          </a:prstGeom>
        </p:spPr>
      </p:pic>
      <p:pic>
        <p:nvPicPr>
          <p:cNvPr id="3" name="Picture 2" descr="A colorful letter g&#10;&#10;AI-generated content may be incorrect.">
            <a:extLst>
              <a:ext uri="{FF2B5EF4-FFF2-40B4-BE49-F238E27FC236}">
                <a16:creationId xmlns:a16="http://schemas.microsoft.com/office/drawing/2014/main" id="{EF3ADD0F-7D91-EA32-49BE-C17A921A89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1094" y="5004327"/>
            <a:ext cx="948237" cy="94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3604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5CAFD-1553-2DE3-26F3-827D7860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15F7FA-366A-FCE1-4119-5E4AD60385F2}"/>
              </a:ext>
            </a:extLst>
          </p:cNvPr>
          <p:cNvSpPr txBox="1">
            <a:spLocks/>
          </p:cNvSpPr>
          <p:nvPr/>
        </p:nvSpPr>
        <p:spPr>
          <a:xfrm>
            <a:off x="2353003" y="1928648"/>
            <a:ext cx="7485993" cy="60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https://forms.office.com/r/SCbqyM8FnU</a:t>
            </a: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1F84519-0016-382E-20CA-7CF638557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4267200" cy="762000"/>
          </a:xfrm>
        </p:spPr>
        <p:txBody>
          <a:bodyPr/>
          <a:lstStyle/>
          <a:p>
            <a:pPr algn="l"/>
            <a:r>
              <a:rPr lang="en-US"/>
              <a:t>Microsoft Forms</a:t>
            </a:r>
          </a:p>
        </p:txBody>
      </p:sp>
      <p:pic>
        <p:nvPicPr>
          <p:cNvPr id="2" name="Picture 1" descr="A qr code on a green background&#10;&#10;AI-generated content may be incorrect.">
            <a:extLst>
              <a:ext uri="{FF2B5EF4-FFF2-40B4-BE49-F238E27FC236}">
                <a16:creationId xmlns:a16="http://schemas.microsoft.com/office/drawing/2014/main" id="{6FC6426A-05BE-C5B2-F415-635A84F90A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59" t="36648" r="25055" b="13855"/>
          <a:stretch>
            <a:fillRect/>
          </a:stretch>
        </p:blipFill>
        <p:spPr>
          <a:xfrm>
            <a:off x="4644259" y="2680137"/>
            <a:ext cx="2903372" cy="2911107"/>
          </a:xfrm>
          <a:prstGeom prst="rect">
            <a:avLst/>
          </a:prstGeom>
        </p:spPr>
      </p:pic>
      <p:pic>
        <p:nvPicPr>
          <p:cNvPr id="3" name="Picture 2" descr="A blue and green logo&#10;&#10;AI-generated content may be incorrect.">
            <a:extLst>
              <a:ext uri="{FF2B5EF4-FFF2-40B4-BE49-F238E27FC236}">
                <a16:creationId xmlns:a16="http://schemas.microsoft.com/office/drawing/2014/main" id="{30C10F8D-06F1-91EE-BA68-F6740977E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0" y="4823012"/>
            <a:ext cx="19431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96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945E9-B9B8-98F1-C158-B408D2690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AD44BB-C34E-8058-F0DE-B685B443602B}"/>
              </a:ext>
            </a:extLst>
          </p:cNvPr>
          <p:cNvSpPr txBox="1">
            <a:spLocks/>
          </p:cNvSpPr>
          <p:nvPr/>
        </p:nvSpPr>
        <p:spPr>
          <a:xfrm>
            <a:off x="3200400" y="1600200"/>
            <a:ext cx="5791200" cy="60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https://</a:t>
            </a:r>
            <a:r>
              <a:rPr lang="en-US" dirty="0" err="1">
                <a:ea typeface="+mn-lt"/>
                <a:cs typeface="+mn-lt"/>
              </a:rPr>
              <a:t>umiami.qualtrics.com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jfe</a:t>
            </a:r>
            <a:r>
              <a:rPr lang="en-US" dirty="0">
                <a:ea typeface="+mn-lt"/>
                <a:cs typeface="+mn-lt"/>
              </a:rPr>
              <a:t>/form/SV_0DoeFz4it03sB1Q</a:t>
            </a:r>
            <a:endParaRPr lang="en-US" dirty="0"/>
          </a:p>
          <a:p>
            <a:pPr marL="0" indent="0" algn="ctr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2F4741-F8C2-097F-8ED5-D55C383F9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124200" cy="762000"/>
          </a:xfrm>
        </p:spPr>
        <p:txBody>
          <a:bodyPr/>
          <a:lstStyle/>
          <a:p>
            <a:pPr algn="l"/>
            <a:r>
              <a:rPr lang="en-US"/>
              <a:t>Qualtrics</a:t>
            </a:r>
          </a:p>
        </p:txBody>
      </p:sp>
      <p:pic>
        <p:nvPicPr>
          <p:cNvPr id="2" name="Picture 1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1403946-DB54-D088-BAC9-1CC66C923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172" y="3133397"/>
            <a:ext cx="2443655" cy="2443655"/>
          </a:xfrm>
          <a:prstGeom prst="rect">
            <a:avLst/>
          </a:prstGeom>
        </p:spPr>
      </p:pic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9FDEF05-81A2-0278-0EFB-C511879CE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989" y="5577052"/>
            <a:ext cx="1676400" cy="53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070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C9883-A10B-BAD4-3B1B-49ACEE65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5909B9-A5F3-4F39-F6A7-0B27FD4390E3}"/>
              </a:ext>
            </a:extLst>
          </p:cNvPr>
          <p:cNvSpPr txBox="1">
            <a:spLocks/>
          </p:cNvSpPr>
          <p:nvPr/>
        </p:nvSpPr>
        <p:spPr>
          <a:xfrm>
            <a:off x="3200400" y="1219200"/>
            <a:ext cx="6132786" cy="60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ea typeface="+mn-lt"/>
                <a:cs typeface="+mn-lt"/>
              </a:rPr>
              <a:t>https://surveys.hellobisque.com/survey/2cad3bb4-ebbf-4acf-a205-7b73818ae145</a:t>
            </a:r>
            <a:endParaRPr lang="en-US"/>
          </a:p>
          <a:p>
            <a:pPr marL="0" indent="0" algn="ctr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AA0941E-6BE3-9136-67BC-2EF79B2572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4267200" cy="762000"/>
          </a:xfrm>
        </p:spPr>
        <p:txBody>
          <a:bodyPr/>
          <a:lstStyle/>
          <a:p>
            <a:pPr algn="l"/>
            <a:r>
              <a:rPr lang="en-US"/>
              <a:t>Bisque</a:t>
            </a:r>
          </a:p>
        </p:txBody>
      </p:sp>
      <p:pic>
        <p:nvPicPr>
          <p:cNvPr id="2" name="Picture 1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192AB14B-65A1-D743-2EFA-23C478922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4466" y="2962604"/>
            <a:ext cx="2483069" cy="2483069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BB143D9C-087D-C565-63CE-5518BECE6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379" y="5110908"/>
            <a:ext cx="1118557" cy="111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7472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D879-8EED-3AB2-D68A-8CB17B3C7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5A29DC-4425-98A2-4E49-AD4D1BE5FC7D}"/>
              </a:ext>
            </a:extLst>
          </p:cNvPr>
          <p:cNvSpPr txBox="1">
            <a:spLocks/>
          </p:cNvSpPr>
          <p:nvPr/>
        </p:nvSpPr>
        <p:spPr>
          <a:xfrm>
            <a:off x="3200400" y="1711872"/>
            <a:ext cx="5791200" cy="6096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ea typeface="+mn-lt"/>
                <a:cs typeface="+mn-lt"/>
              </a:rPr>
              <a:t>https://</a:t>
            </a:r>
            <a:r>
              <a:rPr lang="en-US" dirty="0" err="1">
                <a:ea typeface="+mn-lt"/>
                <a:cs typeface="+mn-lt"/>
              </a:rPr>
              <a:t>redcap.link</a:t>
            </a:r>
            <a:r>
              <a:rPr lang="en-US" dirty="0">
                <a:ea typeface="+mn-lt"/>
                <a:cs typeface="+mn-lt"/>
              </a:rPr>
              <a:t>/ga6qyj93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A5D8407-5649-CB93-B291-62CCF4CB6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124200" cy="762000"/>
          </a:xfrm>
        </p:spPr>
        <p:txBody>
          <a:bodyPr/>
          <a:lstStyle/>
          <a:p>
            <a:pPr algn="l"/>
            <a:r>
              <a:rPr lang="en-US"/>
              <a:t>REDCap</a:t>
            </a:r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853E9A1-C15C-23E1-1E5C-2AE70609E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965" y="2426740"/>
            <a:ext cx="3200071" cy="3200071"/>
          </a:xfrm>
          <a:prstGeom prst="rect">
            <a:avLst/>
          </a:prstGeom>
        </p:spPr>
      </p:pic>
      <p:pic>
        <p:nvPicPr>
          <p:cNvPr id="3" name="Picture 2" descr="A red hat on a black letter&#10;&#10;AI-generated content may be incorrect.">
            <a:extLst>
              <a:ext uri="{FF2B5EF4-FFF2-40B4-BE49-F238E27FC236}">
                <a16:creationId xmlns:a16="http://schemas.microsoft.com/office/drawing/2014/main" id="{8F6B8F63-6CA8-8781-D471-C9AAA3963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990" y="5162888"/>
            <a:ext cx="1855692" cy="9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22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23706-7223-799F-03A1-36944A72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41D881-DBFA-4E9E-587C-3C82D01EE0C6}"/>
              </a:ext>
            </a:extLst>
          </p:cNvPr>
          <p:cNvSpPr txBox="1"/>
          <p:nvPr/>
        </p:nvSpPr>
        <p:spPr>
          <a:xfrm>
            <a:off x="4495800" y="1065619"/>
            <a:ext cx="8763000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4400">
                <a:latin typeface="Arial"/>
                <a:cs typeface="Arial"/>
              </a:rPr>
              <a:t>Accessing The Templates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22D12D14-A23C-8ACC-0FE8-034D8C426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879" y="644087"/>
            <a:ext cx="1618593" cy="1618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D68D06-06C2-468B-D4CF-DBE732A46585}"/>
              </a:ext>
            </a:extLst>
          </p:cNvPr>
          <p:cNvSpPr txBox="1"/>
          <p:nvPr/>
        </p:nvSpPr>
        <p:spPr>
          <a:xfrm>
            <a:off x="3170510" y="2349062"/>
            <a:ext cx="780852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dirty="0">
                <a:latin typeface="Arial"/>
                <a:cs typeface="Arial"/>
              </a:rPr>
              <a:t>https://</a:t>
            </a:r>
            <a:r>
              <a:rPr lang="en-US" sz="3200" dirty="0" err="1">
                <a:latin typeface="Arial"/>
                <a:cs typeface="Arial"/>
              </a:rPr>
              <a:t>github.com</a:t>
            </a:r>
            <a:r>
              <a:rPr lang="en-US" sz="3200" dirty="0">
                <a:latin typeface="Arial"/>
                <a:cs typeface="Arial"/>
              </a:rPr>
              <a:t>/IDEA-Miami/Data-Collection-</a:t>
            </a:r>
            <a:r>
              <a:rPr lang="en-US" sz="3200" dirty="0" err="1">
                <a:latin typeface="Arial"/>
                <a:cs typeface="Arial"/>
              </a:rPr>
              <a:t>Instruments.git</a:t>
            </a:r>
            <a:endParaRPr lang="en-US" dirty="0"/>
          </a:p>
        </p:txBody>
      </p:sp>
      <p:pic>
        <p:nvPicPr>
          <p:cNvPr id="7" name="Picture 6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0A1E33E-88A7-DF05-E778-3867CD097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11" y="3666191"/>
            <a:ext cx="2730126" cy="273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7258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52688-7EA8-5ADE-CB0A-421DDEF45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0" y="773647"/>
            <a:ext cx="4114800" cy="715962"/>
          </a:xfrm>
        </p:spPr>
        <p:txBody>
          <a:bodyPr/>
          <a:lstStyle/>
          <a:p>
            <a:r>
              <a:rPr lang="en-US" dirty="0"/>
              <a:t>Overarching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922F8B-633B-F461-8FD6-8E9F324F44FF}"/>
              </a:ext>
            </a:extLst>
          </p:cNvPr>
          <p:cNvSpPr txBox="1"/>
          <p:nvPr/>
        </p:nvSpPr>
        <p:spPr>
          <a:xfrm>
            <a:off x="3200400" y="2049119"/>
            <a:ext cx="7239000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Open-Source SSP Start-Up Package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Customizable for Specific Needs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Different Platforms Available Based on Needs and Program Budgets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/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Provide Technical Assistance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Support for Data Requests &amp; Publications</a:t>
            </a:r>
          </a:p>
        </p:txBody>
      </p:sp>
    </p:spTree>
    <p:extLst>
      <p:ext uri="{BB962C8B-B14F-4D97-AF65-F5344CB8AC3E}">
        <p14:creationId xmlns:p14="http://schemas.microsoft.com/office/powerpoint/2010/main" val="13966294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97AE7-3559-7164-08D2-458F2165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97B5-E145-BC67-6F37-000FAEEA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0" y="751344"/>
            <a:ext cx="4114800" cy="715962"/>
          </a:xfrm>
        </p:spPr>
        <p:txBody>
          <a:bodyPr lIns="91440" tIns="45720" rIns="91440" bIns="45720" anchor="t"/>
          <a:lstStyle/>
          <a:p>
            <a:r>
              <a:rPr lang="en-US" dirty="0"/>
              <a:t>What's Next?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4F480-AD28-2045-943B-ABFA95021F7B}"/>
              </a:ext>
            </a:extLst>
          </p:cNvPr>
          <p:cNvSpPr txBox="1"/>
          <p:nvPr/>
        </p:nvSpPr>
        <p:spPr>
          <a:xfrm>
            <a:off x="3401122" y="2104875"/>
            <a:ext cx="7423760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Provide Code (R, Python, etc.) to Generate Reports and Data Visualizations</a:t>
            </a:r>
            <a:endParaRPr lang="en-US" sz="2800" dirty="0">
              <a:cs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/>
                <a:cs typeface="Arial"/>
              </a:rPr>
              <a:t>Add Templates for New Platforms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250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EE9C-B048-679C-1D3B-AB0FA093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60AC3-8DA6-6078-B4E4-25794146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590800"/>
            <a:ext cx="9601200" cy="2294797"/>
          </a:xfrm>
        </p:spPr>
        <p:txBody>
          <a:bodyPr/>
          <a:lstStyle/>
          <a:p>
            <a:pPr algn="ctr"/>
            <a:r>
              <a:rPr lang="en-US" sz="4400"/>
              <a:t>Lower Barriers for SSP Implementation.</a:t>
            </a:r>
            <a:br>
              <a:rPr lang="en-US" sz="4000"/>
            </a:br>
            <a:r>
              <a:rPr lang="en-US" sz="4400"/>
              <a:t>Lower Barriers to Access.</a:t>
            </a:r>
          </a:p>
        </p:txBody>
      </p:sp>
    </p:spTree>
    <p:extLst>
      <p:ext uri="{BB962C8B-B14F-4D97-AF65-F5344CB8AC3E}">
        <p14:creationId xmlns:p14="http://schemas.microsoft.com/office/powerpoint/2010/main" val="11292328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9DAC-E401-DF65-B1D1-0A958DB4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5FDF60EC-3424-ADF1-A5CD-E8C132A0975E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3095495" y="2693095"/>
            <a:ext cx="7010400" cy="53340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en-US" sz="3600">
                <a:solidFill>
                  <a:schemeClr val="bg1"/>
                </a:solidFill>
                <a:latin typeface="Helvetica" pitchFamily="2" charset="0"/>
              </a:rPr>
              <a:t>Thank you for participating!</a:t>
            </a:r>
          </a:p>
        </p:txBody>
      </p:sp>
      <p:sp>
        <p:nvSpPr>
          <p:cNvPr id="37891" name="Subtitle 2">
            <a:extLst>
              <a:ext uri="{FF2B5EF4-FFF2-40B4-BE49-F238E27FC236}">
                <a16:creationId xmlns:a16="http://schemas.microsoft.com/office/drawing/2014/main" id="{F9337174-9B5F-4691-2093-529953E9151F}"/>
              </a:ext>
            </a:extLst>
          </p:cNvPr>
          <p:cNvSpPr>
            <a:spLocks noGrp="1"/>
          </p:cNvSpPr>
          <p:nvPr>
            <p:ph type="subTitle" idx="1"/>
          </p:nvPr>
        </p:nvSpPr>
        <p:spPr bwMode="auto">
          <a:xfrm>
            <a:off x="3095495" y="3668040"/>
            <a:ext cx="5134105" cy="533400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>
              <a:buFont typeface="Arial" charset="0"/>
              <a:buNone/>
              <a:defRPr/>
            </a:pPr>
            <a:r>
              <a:rPr lang="en-US" sz="3000">
                <a:solidFill>
                  <a:schemeClr val="bg1">
                    <a:lumMod val="65000"/>
                  </a:schemeClr>
                </a:solidFill>
                <a:latin typeface="Helvetica" pitchFamily="34" charset="0"/>
              </a:rPr>
              <a:t>Questions? Thoughts?</a:t>
            </a:r>
          </a:p>
        </p:txBody>
      </p:sp>
      <p:sp>
        <p:nvSpPr>
          <p:cNvPr id="52227" name="Subtitle 2">
            <a:extLst>
              <a:ext uri="{FF2B5EF4-FFF2-40B4-BE49-F238E27FC236}">
                <a16:creationId xmlns:a16="http://schemas.microsoft.com/office/drawing/2014/main" id="{E764286A-4EC7-4238-D26D-17F09ACDC11D}"/>
              </a:ext>
            </a:extLst>
          </p:cNvPr>
          <p:cNvSpPr txBox="1">
            <a:spLocks/>
          </p:cNvSpPr>
          <p:nvPr/>
        </p:nvSpPr>
        <p:spPr bwMode="auto">
          <a:xfrm>
            <a:off x="3069220" y="6096000"/>
            <a:ext cx="8232226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chemeClr val="bg1"/>
                </a:solidFill>
                <a:latin typeface="Helvetica"/>
                <a:cs typeface="Helvetica"/>
              </a:rPr>
              <a:t>Britt DeVries &amp; Daniel Maya | Thursday, January 29, 2026 | 4th Annual FLHRC </a:t>
            </a:r>
          </a:p>
        </p:txBody>
      </p:sp>
    </p:spTree>
    <p:extLst>
      <p:ext uri="{BB962C8B-B14F-4D97-AF65-F5344CB8AC3E}">
        <p14:creationId xmlns:p14="http://schemas.microsoft.com/office/powerpoint/2010/main" val="38874481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2E16-9D03-CA72-720B-03BBEE7C1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298" y="599500"/>
            <a:ext cx="8153401" cy="584775"/>
          </a:xfrm>
        </p:spPr>
        <p:txBody>
          <a:bodyPr/>
          <a:lstStyle/>
          <a:p>
            <a:r>
              <a:rPr lang="en-US"/>
              <a:t>Technical Assistance Request 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6D862-574B-7AB2-B2D6-EA9E597D001F}"/>
              </a:ext>
            </a:extLst>
          </p:cNvPr>
          <p:cNvSpPr txBox="1"/>
          <p:nvPr/>
        </p:nvSpPr>
        <p:spPr>
          <a:xfrm>
            <a:off x="3715379" y="1645085"/>
            <a:ext cx="4761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hlinkClick r:id="rId2"/>
              </a:rPr>
              <a:t>https://redcap.link/idea-ta</a:t>
            </a:r>
            <a:endParaRPr lang="en-US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0BC25-0B5C-7B7F-F4D8-3C8B6EF5D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725" y="2543175"/>
            <a:ext cx="3130550" cy="313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548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EFE4A-7FF4-37BB-012E-0EC3B0E29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34466"/>
            <a:ext cx="10972800" cy="1143000"/>
          </a:xfrm>
        </p:spPr>
        <p:txBody>
          <a:bodyPr lIns="91440" tIns="45720" rIns="91440" bIns="45720" anchor="t"/>
          <a:lstStyle/>
          <a:p>
            <a:r>
              <a:rPr lang="en-US">
                <a:ea typeface="Calibri"/>
                <a:cs typeface="Calibri"/>
              </a:rPr>
              <a:t>References &amp;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FF863-421F-68EB-7C65-8DADFF6FE37D}"/>
              </a:ext>
            </a:extLst>
          </p:cNvPr>
          <p:cNvSpPr txBox="1"/>
          <p:nvPr/>
        </p:nvSpPr>
        <p:spPr>
          <a:xfrm>
            <a:off x="617482" y="1714500"/>
            <a:ext cx="1095046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rial"/>
                <a:cs typeface="Arial"/>
              </a:rPr>
              <a:t>Common Data Elements – Learning Resources: </a:t>
            </a:r>
            <a:r>
              <a:rPr lang="en-US" dirty="0">
                <a:latin typeface="Arial"/>
                <a:cs typeface="Arial"/>
                <a:hlinkClick r:id="rId2"/>
              </a:rPr>
              <a:t>https://www.nlm.nih.gov/oet/ed/cde/tutorial/index.html</a:t>
            </a:r>
            <a:endParaRPr lang="en-US" dirty="0">
              <a:cs typeface="Arial" panose="020B0604020202020204" pitchFamily="34" charset="0"/>
            </a:endParaRPr>
          </a:p>
          <a:p>
            <a:endParaRPr lang="en-US" dirty="0">
              <a:cs typeface="Arial"/>
            </a:endParaRPr>
          </a:p>
          <a:p>
            <a:r>
              <a:rPr lang="en-US" dirty="0">
                <a:latin typeface="Arial"/>
                <a:cs typeface="Arial"/>
              </a:rPr>
              <a:t>Open-Source Principles – Definition &amp; Resources: </a:t>
            </a:r>
            <a:r>
              <a:rPr lang="en-US" dirty="0">
                <a:latin typeface="Arial"/>
                <a:cs typeface="Arial"/>
                <a:hlinkClick r:id="rId3"/>
              </a:rPr>
              <a:t>https://opensource.org/osd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dirty="0"/>
              <a:t>Wilkinson, M., Dumontier, M., </a:t>
            </a:r>
            <a:r>
              <a:rPr lang="en-US" dirty="0" err="1"/>
              <a:t>Aalbersberg</a:t>
            </a:r>
            <a:r>
              <a:rPr lang="en-US" dirty="0"/>
              <a:t>, I. </a:t>
            </a:r>
            <a:r>
              <a:rPr lang="en-US" i="1" dirty="0"/>
              <a:t>et al.</a:t>
            </a:r>
            <a:r>
              <a:rPr lang="en-US" dirty="0"/>
              <a:t> The FAIR Guiding Principles for scientific data 	management and stewardship. </a:t>
            </a:r>
            <a:r>
              <a:rPr lang="en-US" i="1" dirty="0"/>
              <a:t>Sci Data</a:t>
            </a:r>
            <a:r>
              <a:rPr lang="en-US" dirty="0"/>
              <a:t> </a:t>
            </a:r>
            <a:r>
              <a:rPr lang="en-US" b="1" dirty="0"/>
              <a:t>3</a:t>
            </a:r>
            <a:r>
              <a:rPr lang="en-US" dirty="0"/>
              <a:t>, 160018 (2016). https://</a:t>
            </a:r>
            <a:r>
              <a:rPr lang="en-US" dirty="0" err="1"/>
              <a:t>doi.org</a:t>
            </a:r>
            <a:r>
              <a:rPr lang="en-US" dirty="0"/>
              <a:t>/10.1038/sdata.2016.18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951334"/>
      </p:ext>
    </p:extLst>
  </p:cSld>
  <p:clrMapOvr>
    <a:masterClrMapping/>
  </p:clrMapOvr>
</p:sld>
</file>

<file path=ppt/theme/theme1.xml><?xml version="1.0" encoding="utf-8"?>
<a:theme xmlns:a="http://schemas.openxmlformats.org/drawingml/2006/main" name="UM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M Template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UM Template 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BLANK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</Words>
  <Application>Microsoft Macintosh PowerPoint</Application>
  <PresentationFormat>Widescreen</PresentationFormat>
  <Paragraphs>227</Paragraphs>
  <Slides>42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Helvetica</vt:lpstr>
      <vt:lpstr>UM Template</vt:lpstr>
      <vt:lpstr>UM Template 2</vt:lpstr>
      <vt:lpstr>UM Template 3</vt:lpstr>
      <vt:lpstr>BLANK1</vt:lpstr>
      <vt:lpstr>Open-Source Solutions for Data Capture at Syringe Services Programs</vt:lpstr>
      <vt:lpstr>Quick Introductions</vt:lpstr>
      <vt:lpstr>Today’s Roadmap</vt:lpstr>
      <vt:lpstr>Open-Source Principles</vt:lpstr>
      <vt:lpstr>Common Data Elements</vt:lpstr>
      <vt:lpstr>Practical Example #1</vt:lpstr>
      <vt:lpstr>Practical Example #1</vt:lpstr>
      <vt:lpstr>Practical Example #2</vt:lpstr>
      <vt:lpstr>Practical Example #2</vt:lpstr>
      <vt:lpstr>Pros &amp; Cons of Data Platforms</vt:lpstr>
      <vt:lpstr>Pros &amp; Cons of Data Platforms</vt:lpstr>
      <vt:lpstr>PowerPoint Presentation</vt:lpstr>
      <vt:lpstr>Pros &amp; Cons of Data Platforms</vt:lpstr>
      <vt:lpstr>Pros &amp; Cons of Data Platforms</vt:lpstr>
      <vt:lpstr>PowerPoint Presentation</vt:lpstr>
      <vt:lpstr>Pros &amp; Cons of Data Platforms</vt:lpstr>
      <vt:lpstr>Pros &amp; Cons of Data Platforms</vt:lpstr>
      <vt:lpstr>PowerPoint Presentation</vt:lpstr>
      <vt:lpstr>Pros &amp; Cons of Data Platforms</vt:lpstr>
      <vt:lpstr>Pros &amp; Cons of Data Platforms</vt:lpstr>
      <vt:lpstr>PowerPoint Presentation</vt:lpstr>
      <vt:lpstr>Pros &amp; Cons of Data Platforms</vt:lpstr>
      <vt:lpstr>Pros &amp; Cons of Data Platforms</vt:lpstr>
      <vt:lpstr>PowerPoint Presentation</vt:lpstr>
      <vt:lpstr>Pros &amp; Cons of Data Platforms</vt:lpstr>
      <vt:lpstr>Pros &amp; Cons of Data Platforms (cont.)</vt:lpstr>
      <vt:lpstr>PowerPoint Presentation</vt:lpstr>
      <vt:lpstr>Hands-On Exploration is Next!  Questions?</vt:lpstr>
      <vt:lpstr>Before We Start</vt:lpstr>
      <vt:lpstr>What platform might be best for us? How is our data collected?  What do we do with data?</vt:lpstr>
      <vt:lpstr>Google Forms</vt:lpstr>
      <vt:lpstr>Microsoft Forms</vt:lpstr>
      <vt:lpstr>Qualtrics</vt:lpstr>
      <vt:lpstr>Bisque</vt:lpstr>
      <vt:lpstr>REDCap</vt:lpstr>
      <vt:lpstr>PowerPoint Presentation</vt:lpstr>
      <vt:lpstr>Overarching Goal</vt:lpstr>
      <vt:lpstr>What's Next?</vt:lpstr>
      <vt:lpstr>Lower Barriers for SSP Implementation. Lower Barriers to Access.</vt:lpstr>
      <vt:lpstr>Thank you for participating!</vt:lpstr>
      <vt:lpstr>Technical Assistance Request Form</vt:lpstr>
      <vt:lpstr>References &amp; Resources</vt:lpstr>
    </vt:vector>
  </TitlesOfParts>
  <Company>University of Miami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k.corrales</dc:creator>
  <cp:lastModifiedBy>DeVries, Britt A.</cp:lastModifiedBy>
  <cp:revision>2</cp:revision>
  <dcterms:created xsi:type="dcterms:W3CDTF">2009-06-09T16:07:11Z</dcterms:created>
  <dcterms:modified xsi:type="dcterms:W3CDTF">2026-01-29T16:33:42Z</dcterms:modified>
</cp:coreProperties>
</file>